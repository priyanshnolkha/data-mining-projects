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7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4" r:id="rId25"/>
    <p:sldId id="261" r:id="rId7"/>
    <p:sldId id="262" r:id="rId8"/>
    <p:sldId id="263" r:id="rId9"/>
    <p:sldId id="264" r:id="rId10"/>
    <p:sldId id="265" r:id="rId11"/>
    <p:sldId id="266" r:id="rId12"/>
    <p:sldId id="267" r:id="rId13"/>
    <p:sldId id="276" r:id="rId27"/>
    <p:sldId id="268" r:id="rId14"/>
    <p:sldId id="271" r:id="rId22"/>
    <p:sldId id="275" r:id="rId26"/>
    <p:sldId id="272" r:id="rId23"/>
    <p:sldId id="273" r:id="rId24"/>
    <p:sldId id="269" r:id="rId15"/>
    <p:sldId id="277" r:id="rId28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0291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0291F"/>
                </a:solidFill>
                <a:latin typeface="Arial"/>
              </a:rPr>
              <a:t>Preferred Genre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029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Fiction</c:v>
                  </c:pt>
                  <c:pt idx="1">
                    <c:v>Literature</c:v>
                  </c:pt>
                  <c:pt idx="2">
                    <c:v>Business</c:v>
                  </c:pt>
                  <c:pt idx="3">
                    <c:v>Non-Fiction</c:v>
                  </c:pt>
                  <c:pt idx="4">
                    <c:v>History</c:v>
                  </c:pt>
                  <c:pt idx="5">
                    <c:v>Technology</c:v>
                  </c:pt>
                  <c:pt idx="6">
                    <c:v>Science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58</c:v>
                </c:pt>
                <c:pt idx="1">
                  <c:v>65</c:v>
                </c:pt>
                <c:pt idx="2">
                  <c:v>65</c:v>
                </c:pt>
                <c:pt idx="3">
                  <c:v>75</c:v>
                </c:pt>
                <c:pt idx="4">
                  <c:v>75</c:v>
                </c:pt>
                <c:pt idx="5">
                  <c:v>80</c:v>
                </c:pt>
                <c:pt idx="6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029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B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0291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0291F"/>
                </a:solidFill>
                <a:latin typeface="Arial"/>
              </a:rPr>
              <a:t>Reason for Visit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Reason</c:v>
                </c:pt>
              </c:strCache>
            </c:strRef>
          </c:tx>
          <c:spPr>
            <a:solidFill>
              <a:srgbClr val="6E9B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029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Study</c:v>
                  </c:pt>
                  <c:pt idx="1">
                    <c:v>Assignment</c:v>
                  </c:pt>
                  <c:pt idx="2">
                    <c:v>Reading</c:v>
                  </c:pt>
                  <c:pt idx="3">
                    <c:v>Borrow Books</c:v>
                  </c:pt>
                  <c:pt idx="4">
                    <c:v>Research</c:v>
                  </c:pt>
                  <c:pt idx="5">
                    <c:v>Exam Prep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66</c:v>
                </c:pt>
                <c:pt idx="1">
                  <c:v>76</c:v>
                </c:pt>
                <c:pt idx="2">
                  <c:v>83</c:v>
                </c:pt>
                <c:pt idx="3">
                  <c:v>83</c:v>
                </c:pt>
                <c:pt idx="4">
                  <c:v>96</c:v>
                </c:pt>
                <c:pt idx="5">
                  <c:v>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029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B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0291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0291F"/>
                </a:solidFill>
                <a:latin typeface="Arial"/>
              </a:rPr>
              <a:t>Peak Library Hour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spPr>
            <a:solidFill>
              <a:srgbClr val="D98C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029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11AM</c:v>
                  </c:pt>
                  <c:pt idx="1">
                    <c:v>2PM</c:v>
                  </c:pt>
                  <c:pt idx="2">
                    <c:v>1PM</c:v>
                  </c:pt>
                  <c:pt idx="3">
                    <c:v>3PM</c:v>
                  </c:pt>
                  <c:pt idx="4">
                    <c:v>12PM</c:v>
                  </c:pt>
                  <c:pt idx="5">
                    <c:v>4PM</c:v>
                  </c:pt>
                  <c:pt idx="6">
                    <c:v>9AM</c:v>
                  </c:pt>
                  <c:pt idx="7">
                    <c:v>10AM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57</c:v>
                </c:pt>
                <c:pt idx="1">
                  <c:v>59</c:v>
                </c:pt>
                <c:pt idx="2">
                  <c:v>59</c:v>
                </c:pt>
                <c:pt idx="3">
                  <c:v>63</c:v>
                </c:pt>
                <c:pt idx="4">
                  <c:v>63</c:v>
                </c:pt>
                <c:pt idx="5">
                  <c:v>65</c:v>
                </c:pt>
                <c:pt idx="6">
                  <c:v>66</c:v>
                </c:pt>
                <c:pt idx="7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029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6B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029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Fiction</c:v>
                  </c:pt>
                  <c:pt idx="1">
                    <c:v>Literature</c:v>
                  </c:pt>
                  <c:pt idx="2">
                    <c:v>Business</c:v>
                  </c:pt>
                  <c:pt idx="3">
                    <c:v>Non-Fiction</c:v>
                  </c:pt>
                  <c:pt idx="4">
                    <c:v>History</c:v>
                  </c:pt>
                  <c:pt idx="5">
                    <c:v>Technology</c:v>
                  </c:pt>
                  <c:pt idx="6">
                    <c:v>Science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58</c:v>
                </c:pt>
                <c:pt idx="1">
                  <c:v>65</c:v>
                </c:pt>
                <c:pt idx="2">
                  <c:v>65</c:v>
                </c:pt>
                <c:pt idx="3">
                  <c:v>75</c:v>
                </c:pt>
                <c:pt idx="4">
                  <c:v>75</c:v>
                </c:pt>
                <c:pt idx="5">
                  <c:v>80</c:v>
                </c:pt>
                <c:pt idx="6">
                  <c:v>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029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E6B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spPr>
            <a:solidFill>
              <a:srgbClr val="D98C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029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11 AM</c:v>
                  </c:pt>
                  <c:pt idx="1">
                    <c:v>2 PM</c:v>
                  </c:pt>
                  <c:pt idx="2">
                    <c:v>1 PM</c:v>
                  </c:pt>
                  <c:pt idx="3">
                    <c:v>3 PM</c:v>
                  </c:pt>
                  <c:pt idx="4">
                    <c:v>12 PM</c:v>
                  </c:pt>
                  <c:pt idx="5">
                    <c:v>4 PM</c:v>
                  </c:pt>
                  <c:pt idx="6">
                    <c:v>9 AM</c:v>
                  </c:pt>
                  <c:pt idx="7">
                    <c:v>10 AM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57</c:v>
                </c:pt>
                <c:pt idx="1">
                  <c:v>59</c:v>
                </c:pt>
                <c:pt idx="2">
                  <c:v>59</c:v>
                </c:pt>
                <c:pt idx="3">
                  <c:v>63</c:v>
                </c:pt>
                <c:pt idx="4">
                  <c:v>63</c:v>
                </c:pt>
                <c:pt idx="5">
                  <c:v>65</c:v>
                </c:pt>
                <c:pt idx="6">
                  <c:v>66</c:v>
                </c:pt>
                <c:pt idx="7">
                  <c:v>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029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E6B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Reason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6E9B4F"/>
              </a:solidFill>
              <a:effectLst/>
            </c:spPr>
          </c:dPt>
          <c:dPt>
            <c:idx val="2"/>
            <c:bubble3D val="0"/>
            <c:spPr>
              <a:solidFill>
                <a:srgbClr val="D98C3D"/>
              </a:solidFill>
              <a:effectLst/>
            </c:spPr>
          </c:dPt>
          <c:dPt>
            <c:idx val="3"/>
            <c:bubble3D val="0"/>
            <c:spPr>
              <a:solidFill>
                <a:srgbClr val="8AA87A"/>
              </a:solidFill>
              <a:effectLst/>
            </c:spPr>
          </c:dPt>
          <c:dPt>
            <c:idx val="4"/>
            <c:bubble3D val="0"/>
            <c:spPr>
              <a:solidFill>
                <a:srgbClr val="C9986B"/>
              </a:solidFill>
              <a:effectLst/>
            </c:spPr>
          </c:dPt>
          <c:dPt>
            <c:idx val="5"/>
            <c:bubble3D val="0"/>
            <c:spPr>
              <a:solidFill>
                <a:srgbClr val="4C6B4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Exam Preparation</c:v>
                </c:pt>
                <c:pt idx="1">
                  <c:v>Research</c:v>
                </c:pt>
                <c:pt idx="2">
                  <c:v>Borrow Books</c:v>
                </c:pt>
                <c:pt idx="3">
                  <c:v>Reading</c:v>
                </c:pt>
                <c:pt idx="4">
                  <c:v>Assignment</c:v>
                </c:pt>
                <c:pt idx="5">
                  <c:v>Study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96</c:v>
                </c:pt>
                <c:pt idx="1">
                  <c:v>96</c:v>
                </c:pt>
                <c:pt idx="2">
                  <c:v>83</c:v>
                </c:pt>
                <c:pt idx="3">
                  <c:v>83</c:v>
                </c:pt>
                <c:pt idx="4">
                  <c:v>76</c:v>
                </c:pt>
                <c:pt idx="5">
                  <c:v>66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 Frequency / Month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029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Frequent Visitors</c:v>
                  </c:pt>
                  <c:pt idx="1">
                    <c:v>Deep Readers</c:v>
                  </c:pt>
                  <c:pt idx="2">
                    <c:v>Digital-Heavy Users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23.3</c:v>
                </c:pt>
                <c:pt idx="1">
                  <c:v>13</c:v>
                </c:pt>
                <c:pt idx="2">
                  <c:v>12.9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Reading Duration (Hours)</c:v>
                </c:pt>
              </c:strCache>
            </c:strRef>
          </c:tx>
          <c:spPr>
            <a:solidFill>
              <a:srgbClr val="D98C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029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Frequent Visitors</c:v>
                  </c:pt>
                  <c:pt idx="1">
                    <c:v>Deep Readers</c:v>
                  </c:pt>
                  <c:pt idx="2">
                    <c:v>Digital-Heavy Users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17.9</c:v>
                </c:pt>
                <c:pt idx="1">
                  <c:v>44</c:v>
                </c:pt>
                <c:pt idx="2">
                  <c:v>29.1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029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B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6" Type="http://schemas.openxmlformats.org/officeDocument/2006/relationships/chart" Target="/ppt/charts/chart2.xml"/><Relationship Id="rId7" Type="http://schemas.openxmlformats.org/officeDocument/2006/relationships/chart" Target="/ppt/charts/chart3.xm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8" Type="http://schemas.openxmlformats.org/officeDocument/2006/relationships/image" Target="../media/image-10-5.png"/><Relationship Id="rId9" Type="http://schemas.openxmlformats.org/officeDocument/2006/relationships/image" Target="../media/image-10-4.png"/><Relationship Id="rId10" Type="http://schemas.openxmlformats.org/officeDocument/2006/relationships/image" Target="../media/image-10-1.png"/><Relationship Id="rId11" Type="http://schemas.openxmlformats.org/officeDocument/2006/relationships/image" Target="../media/image-10-8.png"/><Relationship Id="rId12" Type="http://schemas.openxmlformats.org/officeDocument/2006/relationships/image" Target="../media/image-10-9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4.xml"/><Relationship Id="rId6" Type="http://schemas.openxmlformats.org/officeDocument/2006/relationships/chart" Target="/ppt/charts/chart5.xm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20" Type="http://schemas.openxmlformats.org/officeDocument/2006/relationships/image" Target="../media/image_dash.png"/></Relationships>

</file>

<file path=ppt/slides/_rels/slide17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20" Type="http://schemas.openxmlformats.org/officeDocument/2006/relationships/image" Target="../media/image_apriori.png"/><Relationship Id="rId21" Type="http://schemas.openxmlformats.org/officeDocument/2006/relationships/image" Target="../media/image_reco.png"/></Relationships>

</file>

<file path=ppt/slides/_rels/slide18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20" Type="http://schemas.openxmlformats.org/officeDocument/2006/relationships/image" Target="../media/image_powerbi.png"/></Relationships>

</file>

<file path=ppt/slides/_rels/slide19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20" Type="http://schemas.openxmlformats.org/officeDocument/2006/relationships/image" Target="../media/image_gform.png"/><Relationship Id="rId21" Type="http://schemas.openxmlformats.org/officeDocument/2006/relationships/image" Target="../media/image_dataset.png"/><Relationship Id="rId50" Type="http://schemas.openxmlformats.org/officeDocument/2006/relationships/hyperlink" Target="https://docs.google.com/forms/d/e/1FAIpQLSdia9P3jRFR1r_9Eq0pCwZ3evmCrCgWE-MYkHXKVK80aGrF0Q/viewform?usp=publish-editor" TargetMode="External"/></Relationships>

</file>

<file path=ppt/slides/_rels/slide20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20" Type="http://schemas.openxmlformats.org/officeDocument/2006/relationships/image" Target="../media/image_kmeans_live.png"/></Relationships>

</file>

<file path=ppt/slides/_rels/slide21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Relationship Id="rId20" Type="http://schemas.openxmlformats.org/officeDocument/2006/relationships/image" Target="../media/image_apriori_eval.png"/></Relationships>

</file>

<file path=ppt/slides/_rels/slide22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C5F2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6E9B4F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/home/claude/work/icons/book_ope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9829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 |   MCA  ·  BIG DATA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46888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LIBRARY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D7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Usage Analytics &amp; Data-Driven Insights using Apriori, K-Means Clustering, and Personalized Recommendations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5166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FC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Library_Management_Dataset.xlsx    ·    500 STUDENTS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002536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/home/claude/work/icons/book_ope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14426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2103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0016" y="2002536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/home/claude/work/icons/bulls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748" y="214426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8013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349240" y="2103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229600" y="16002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0496" y="2002536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/home/claude/work/icons/co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2228" y="214426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9720" y="18013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189720" y="2103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548640" y="32004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59536" y="3602736"/>
            <a:ext cx="566928" cy="566928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21" name="Image 3" descr="/home/claude/work/icons/sitema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" y="374446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4015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9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508760" y="3703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50" dirty="0"/>
          </a:p>
        </p:txBody>
      </p:sp>
      <p:sp>
        <p:nvSpPr>
          <p:cNvPr id="24" name="Shape 18"/>
          <p:cNvSpPr/>
          <p:nvPr/>
        </p:nvSpPr>
        <p:spPr>
          <a:xfrm>
            <a:off x="4389120" y="32004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00016" y="3602736"/>
            <a:ext cx="566928" cy="566928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26" name="Image 4" descr="/home/claude/work/icons/projdiagram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1748" y="3744468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9240" y="34015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9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349240" y="3703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450" dirty="0"/>
          </a:p>
        </p:txBody>
      </p:sp>
      <p:sp>
        <p:nvSpPr>
          <p:cNvPr id="29" name="Shape 22"/>
          <p:cNvSpPr/>
          <p:nvPr/>
        </p:nvSpPr>
        <p:spPr>
          <a:xfrm>
            <a:off x="8229600" y="32004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40496" y="3602736"/>
            <a:ext cx="566928" cy="566928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31" name="Image 5" descr="/home/claude/work/icons/pytho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2228" y="3744468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89720" y="34015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9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9189720" y="37033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50" dirty="0"/>
          </a:p>
        </p:txBody>
      </p:sp>
      <p:sp>
        <p:nvSpPr>
          <p:cNvPr id="34" name="Shape 26"/>
          <p:cNvSpPr/>
          <p:nvPr/>
        </p:nvSpPr>
        <p:spPr>
          <a:xfrm>
            <a:off x="548640" y="48006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59536" y="5202936"/>
            <a:ext cx="566928" cy="566928"/>
          </a:xfrm>
          <a:prstGeom prst="ellipse">
            <a:avLst/>
          </a:prstGeom>
          <a:solidFill>
            <a:srgbClr val="D98C3D"/>
          </a:solidFill>
          <a:ln/>
        </p:spPr>
      </p:sp>
      <p:pic>
        <p:nvPicPr>
          <p:cNvPr id="36" name="Image 6" descr="/home/claude/work/icons/databas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1268" y="5344668"/>
            <a:ext cx="283464" cy="28346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508760" y="50017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1508760" y="5303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450" dirty="0"/>
          </a:p>
        </p:txBody>
      </p:sp>
      <p:sp>
        <p:nvSpPr>
          <p:cNvPr id="39" name="Shape 30"/>
          <p:cNvSpPr/>
          <p:nvPr/>
        </p:nvSpPr>
        <p:spPr>
          <a:xfrm>
            <a:off x="4389120" y="48006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2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700016" y="5202936"/>
            <a:ext cx="566928" cy="566928"/>
          </a:xfrm>
          <a:prstGeom prst="ellipse">
            <a:avLst/>
          </a:prstGeom>
          <a:solidFill>
            <a:srgbClr val="D98C3D"/>
          </a:solidFill>
          <a:ln/>
        </p:spPr>
      </p:sp>
      <p:pic>
        <p:nvPicPr>
          <p:cNvPr id="41" name="Image 7" descr="/home/claude/work/icons/chartbar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1748" y="5344668"/>
            <a:ext cx="283464" cy="28346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349240" y="50017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43" name="Text 33"/>
          <p:cNvSpPr/>
          <p:nvPr/>
        </p:nvSpPr>
        <p:spPr>
          <a:xfrm>
            <a:off x="5349240" y="5303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450" dirty="0"/>
          </a:p>
        </p:txBody>
      </p:sp>
      <p:sp>
        <p:nvSpPr>
          <p:cNvPr id="44" name="Shape 34"/>
          <p:cNvSpPr/>
          <p:nvPr/>
        </p:nvSpPr>
        <p:spPr>
          <a:xfrm>
            <a:off x="8229600" y="480060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2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540496" y="5202936"/>
            <a:ext cx="566928" cy="566928"/>
          </a:xfrm>
          <a:prstGeom prst="ellipse">
            <a:avLst/>
          </a:prstGeom>
          <a:solidFill>
            <a:srgbClr val="D98C3D"/>
          </a:solidFill>
          <a:ln/>
        </p:spPr>
      </p:sp>
      <p:pic>
        <p:nvPicPr>
          <p:cNvPr id="46" name="Image 8" descr="/home/claude/work/icons/rocket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2228" y="5344668"/>
            <a:ext cx="283464" cy="28346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9189720" y="500176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C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500" dirty="0"/>
          </a:p>
        </p:txBody>
      </p:sp>
      <p:sp>
        <p:nvSpPr>
          <p:cNvPr id="48" name="Text 37"/>
          <p:cNvSpPr/>
          <p:nvPr/>
        </p:nvSpPr>
        <p:spPr>
          <a:xfrm>
            <a:off x="9189720" y="5303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50" dirty="0"/>
          </a:p>
        </p:txBody>
      </p:sp>
      <p:sp>
        <p:nvSpPr>
          <p:cNvPr id="49" name="Text 3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academic libraries generate rich behavioural data — book borrowing, digital-resource access, visit frequency, and reading duration — that is rarely analysed beyond basic circulation counts.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Study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data mining techniques to a 500-student library usage dataset to uncover usage patterns, segment students by behaviour, and generate actionable, data-driven recommendations for library management. The analysis combines association rule mining (Apriori), unsupervised clustering (K-Means), and a lightweight recommendation engine into a single analytics-driven workflow, visualised through an interactive dashboard.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78040" y="1600200"/>
            <a:ext cx="4480560" cy="4480560"/>
          </a:xfrm>
          <a:prstGeom prst="roundRect">
            <a:avLst>
              <a:gd name="adj" fmla="val 1633"/>
            </a:avLst>
          </a:prstGeom>
          <a:solidFill>
            <a:srgbClr val="17321A"/>
          </a:solidFill>
          <a:ln/>
        </p:spPr>
      </p:sp>
      <p:sp>
        <p:nvSpPr>
          <p:cNvPr id="9" name="Shape 7"/>
          <p:cNvSpPr/>
          <p:nvPr/>
        </p:nvSpPr>
        <p:spPr>
          <a:xfrm>
            <a:off x="7443216" y="2048256"/>
            <a:ext cx="566928" cy="566928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10" name="Image 0" descr="/home/claude/work/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4948" y="2189988"/>
            <a:ext cx="283464" cy="283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138160" y="196596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unique students across the library system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43216" y="3081528"/>
            <a:ext cx="566928" cy="566928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13" name="Image 1" descr="/home/claude/work/icons/boo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948" y="3223260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138160" y="299923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preference, borrowing &amp; digital-resource usage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443216" y="4114800"/>
            <a:ext cx="566928" cy="566928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16" name="Image 2" descr="/home/claude/work/icons/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948" y="425653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4032504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hours, visit frequency &amp; reading duration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7443216" y="5148072"/>
            <a:ext cx="566928" cy="566928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19" name="Image 3" descr="/home/claude/work/icons/brai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948" y="5289804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38160" y="5065776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segmentation via K-Means clustering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Problem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4108" y="18516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/home/claude/work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38" y="19773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470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Existing Problem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2743200"/>
            <a:ext cx="82296" cy="822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60604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usage data is collected but rarely analysed beyond raw counts.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14400" y="3611880"/>
            <a:ext cx="82296" cy="822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347472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which genres, hours, or services drive real demand.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14400" y="4480560"/>
            <a:ext cx="82296" cy="822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434340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purchasing and staffing decisions are made without data support.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14400" y="5349240"/>
            <a:ext cx="82296" cy="8229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52120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receive no personalized reading or resource suggestions.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199632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15100" y="1851660"/>
            <a:ext cx="502920" cy="502920"/>
          </a:xfrm>
          <a:prstGeom prst="ellipse">
            <a:avLst/>
          </a:prstGeom>
          <a:solidFill>
            <a:srgbClr val="D98C3D"/>
          </a:solidFill>
          <a:ln/>
        </p:spPr>
      </p:sp>
      <p:pic>
        <p:nvPicPr>
          <p:cNvPr id="18" name="Image 1" descr="/home/claude/work/icons/bulls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977390"/>
            <a:ext cx="251460" cy="2514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114032" y="184708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565392" y="2743200"/>
            <a:ext cx="82296" cy="82296"/>
          </a:xfrm>
          <a:prstGeom prst="ellipse">
            <a:avLst/>
          </a:prstGeom>
          <a:solidFill>
            <a:srgbClr val="D98C3D"/>
          </a:solidFill>
          <a:ln/>
        </p:spPr>
      </p:sp>
      <p:sp>
        <p:nvSpPr>
          <p:cNvPr id="21" name="Text 17"/>
          <p:cNvSpPr/>
          <p:nvPr/>
        </p:nvSpPr>
        <p:spPr>
          <a:xfrm>
            <a:off x="6793992" y="260604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overall library usage: borrowing, digital access, reading time.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565392" y="3611880"/>
            <a:ext cx="82296" cy="82296"/>
          </a:xfrm>
          <a:prstGeom prst="ellipse">
            <a:avLst/>
          </a:prstGeom>
          <a:solidFill>
            <a:srgbClr val="D98C3D"/>
          </a:solidFill>
          <a:ln/>
        </p:spPr>
      </p:sp>
      <p:sp>
        <p:nvSpPr>
          <p:cNvPr id="23" name="Text 19"/>
          <p:cNvSpPr/>
          <p:nvPr/>
        </p:nvSpPr>
        <p:spPr>
          <a:xfrm>
            <a:off x="6793992" y="347472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association rules linking genre, visit reason, and peak hours.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565392" y="4480560"/>
            <a:ext cx="82296" cy="82296"/>
          </a:xfrm>
          <a:prstGeom prst="ellipse">
            <a:avLst/>
          </a:prstGeom>
          <a:solidFill>
            <a:srgbClr val="D98C3D"/>
          </a:solidFill>
          <a:ln/>
        </p:spPr>
      </p:sp>
      <p:sp>
        <p:nvSpPr>
          <p:cNvPr id="25" name="Text 21"/>
          <p:cNvSpPr/>
          <p:nvPr/>
        </p:nvSpPr>
        <p:spPr>
          <a:xfrm>
            <a:off x="6793992" y="434340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students into behavioural clusters using K-Means.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565392" y="5349240"/>
            <a:ext cx="82296" cy="82296"/>
          </a:xfrm>
          <a:prstGeom prst="ellipse">
            <a:avLst/>
          </a:prstGeom>
          <a:solidFill>
            <a:srgbClr val="D98C3D"/>
          </a:solidFill>
          <a:ln/>
        </p:spPr>
      </p:sp>
      <p:sp>
        <p:nvSpPr>
          <p:cNvPr id="27" name="Text 23"/>
          <p:cNvSpPr/>
          <p:nvPr/>
        </p:nvSpPr>
        <p:spPr>
          <a:xfrm>
            <a:off x="6793992" y="52120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genre-based recommendations and purchase priorities.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Approach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9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417320" y="249174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0" descr="/home/claude/work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630" y="268605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429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82219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500-record Excel dataset of student library activity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063240" y="27432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447288" y="182880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75888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9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15968" y="249174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4" name="Image 1" descr="/home/claude/work/icons/filt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278" y="2686050"/>
            <a:ext cx="388620" cy="3886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30168" y="3429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675888" y="382219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type conversion &amp; feature selection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961888" y="27432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345936" y="182880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574536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9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214616" y="249174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1" name="Image 2" descr="/home/claude/work/icon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926" y="2686050"/>
            <a:ext cx="388620" cy="3886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28816" y="3429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574536" y="382219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rules, K-Means clustering, recommender logic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860536" y="27432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9244584" y="182880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473184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9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10113264" y="2491740"/>
            <a:ext cx="777240" cy="7772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8" name="Image 3" descr="/home/claude/work/icons/chartli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7574" y="2686050"/>
            <a:ext cx="388620" cy="3886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427464" y="34290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9473184" y="382219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score, rule confidence &amp; lift, visual QA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48640" y="498348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17321A"/>
          </a:solidFill>
          <a:ln/>
        </p:spPr>
      </p:sp>
      <p:sp>
        <p:nvSpPr>
          <p:cNvPr id="32" name="Text 26"/>
          <p:cNvSpPr/>
          <p:nvPr/>
        </p:nvSpPr>
        <p:spPr>
          <a:xfrm>
            <a:off x="822960" y="49834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used:  Apriori (association rule mining)  ·  K-Means clustering  ·  Rule-based recommendation system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 → Processing → Model → Output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0180" y="233172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/home/claude/work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514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00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35387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Library_Management_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Dataset.xlsx (500 rows)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063240" y="25146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447288" y="196596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9050">
            <a:solidFill>
              <a:srgbClr val="6E9B4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38828" y="2331720"/>
            <a:ext cx="731520" cy="731520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12" name="Image 1" descr="/home/claude/work/icons/co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708" y="25146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84448" y="3200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84448" y="35387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cleaning,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 scaling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961888" y="25146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345936" y="196596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9050">
            <a:solidFill>
              <a:srgbClr val="D98C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237476" y="2331720"/>
            <a:ext cx="731520" cy="731520"/>
          </a:xfrm>
          <a:prstGeom prst="ellipse">
            <a:avLst/>
          </a:prstGeom>
          <a:solidFill>
            <a:srgbClr val="D98C3D"/>
          </a:solidFill>
          <a:ln/>
        </p:spPr>
      </p:sp>
      <p:pic>
        <p:nvPicPr>
          <p:cNvPr id="18" name="Image 2" descr="/home/claude/work/icon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356" y="25146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83096" y="3200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Layer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83096" y="35387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· K-Means ·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logic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860536" y="25146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9244584" y="196596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136124" y="233172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4" name="Image 3" descr="/home/claude/work/icons/chartb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9004" y="251460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81744" y="32004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381744" y="35387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dashboard &amp;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48640" y="4709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raw records are cleaned and transformed, mined for patterns and clusters, then surfaced through a dashboard that drives library decisions.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→ Literature → Development → 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2606040"/>
            <a:ext cx="914400" cy="9144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/home/claude/work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834640"/>
            <a:ext cx="4572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47088" y="2532888"/>
            <a:ext cx="310896" cy="310896"/>
          </a:xfrm>
          <a:prstGeom prst="ellipse">
            <a:avLst/>
          </a:prstGeom>
          <a:solidFill>
            <a:srgbClr val="D98C3D"/>
          </a:solidFill>
          <a:ln w="25400">
            <a:solidFill>
              <a:srgbClr val="F6F5F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47088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analytics problem and success criteria for the library.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606040" y="28346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37560" y="2606040"/>
            <a:ext cx="914400" cy="914400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12" name="Image 1" descr="/home/claude/work/icons/clipboa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834640"/>
            <a:ext cx="457200" cy="4572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087368" y="2532888"/>
            <a:ext cx="310896" cy="310896"/>
          </a:xfrm>
          <a:prstGeom prst="ellipse">
            <a:avLst/>
          </a:prstGeom>
          <a:solidFill>
            <a:srgbClr val="D98C3D"/>
          </a:solidFill>
          <a:ln w="25400">
            <a:solidFill>
              <a:srgbClr val="F6F5F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087368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743200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788920" y="41148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data-mining approaches: association rules &amp; clustering.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846320" y="28346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577840" y="2606040"/>
            <a:ext cx="914400" cy="9144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9" name="Image 2" descr="/home/claude/work/icons/co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834640"/>
            <a:ext cx="457200" cy="4572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327648" y="2532888"/>
            <a:ext cx="310896" cy="310896"/>
          </a:xfrm>
          <a:prstGeom prst="ellipse">
            <a:avLst/>
          </a:prstGeom>
          <a:solidFill>
            <a:srgbClr val="D98C3D"/>
          </a:solidFill>
          <a:ln w="25400">
            <a:solidFill>
              <a:srgbClr val="F6F5F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327648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983480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029200" y="41148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cleaning, modeling &amp; dashboard pipeline in Python.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7086600" y="28346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7818120" y="2606040"/>
            <a:ext cx="914400" cy="914400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26" name="Image 3" descr="/home/claude/work/icons/sear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834640"/>
            <a:ext cx="457200" cy="45720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8567928" y="2532888"/>
            <a:ext cx="310896" cy="310896"/>
          </a:xfrm>
          <a:prstGeom prst="ellipse">
            <a:avLst/>
          </a:prstGeom>
          <a:solidFill>
            <a:srgbClr val="D98C3D"/>
          </a:solidFill>
          <a:ln w="25400">
            <a:solidFill>
              <a:srgbClr val="F6F5F1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567928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223760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7269480" y="41148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cluster quality and rule confidence against the data.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9326880" y="28346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10058400" y="2606040"/>
            <a:ext cx="914400" cy="9144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3" name="Image 4" descr="/home/claude/work/icons/fla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2834640"/>
            <a:ext cx="457200" cy="45720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10808208" y="2532888"/>
            <a:ext cx="310896" cy="310896"/>
          </a:xfrm>
          <a:prstGeom prst="ellipse">
            <a:avLst/>
          </a:prstGeom>
          <a:solidFill>
            <a:srgbClr val="D98C3D"/>
          </a:solidFill>
          <a:ln w="25400">
            <a:solidFill>
              <a:srgbClr val="F6F5F1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10808208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9464040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9509760" y="41148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Summarized findings into actionable library recommendations.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Libraries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34540" y="19659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/home/claude/work/icons/pyth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21259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43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063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the entire analysis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75020" y="1965960"/>
            <a:ext cx="640080" cy="640080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11" name="Image 1" descr="/home/claude/work/icons/book_ope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1259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743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 Notebook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17720" y="3063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environment for exploration &amp; modeling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715500" y="1965960"/>
            <a:ext cx="640080" cy="640080"/>
          </a:xfrm>
          <a:prstGeom prst="ellipse">
            <a:avLst/>
          </a:prstGeom>
          <a:solidFill>
            <a:srgbClr val="D98C3D"/>
          </a:solidFill>
          <a:ln/>
        </p:spPr>
      </p:sp>
      <p:pic>
        <p:nvPicPr>
          <p:cNvPr id="16" name="Image 2" descr="/home/claude/work/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21259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743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58200" y="3063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cleaning &amp; aggregation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034540" y="425196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1" name="Image 3" descr="/home/claude/work/icons/chartb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44119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5029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 / Seaborn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5349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&amp; cluster visualizations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39776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875020" y="4251960"/>
            <a:ext cx="640080" cy="640080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26" name="Image 4" descr="/home/claude/work/icons/brai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41198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5029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17720" y="5349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StandardScaler, K-Means, silhouette scoring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29600" y="39776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715500" y="4251960"/>
            <a:ext cx="640080" cy="640080"/>
          </a:xfrm>
          <a:prstGeom prst="ellipse">
            <a:avLst/>
          </a:prstGeom>
          <a:solidFill>
            <a:srgbClr val="D98C3D"/>
          </a:solidFill>
          <a:ln/>
        </p:spPr>
      </p:sp>
      <p:pic>
        <p:nvPicPr>
          <p:cNvPr id="31" name="Image 5" descr="/home/claude/work/icons/networ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0" y="441198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2480" y="5029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Mlxtend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458200" y="5349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frequent itemsets &amp; association rules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Algorithms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47088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/home/claude/work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8424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74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14400" y="29535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students (Registration_No unique)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35661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38221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Frequency, Books Borrowed, Digital Resources Accessed, Reading Duration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44348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FIELDS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914400" y="46908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Genre, Peak Library Hour, Reason for Visit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53035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14400" y="55595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Library_Management_Dataset.xlsx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99632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7321A"/>
          </a:solidFill>
          <a:ln/>
        </p:spPr>
      </p:sp>
      <p:sp>
        <p:nvSpPr>
          <p:cNvPr id="17" name="Shape 14"/>
          <p:cNvSpPr/>
          <p:nvPr/>
        </p:nvSpPr>
        <p:spPr>
          <a:xfrm>
            <a:off x="6519672" y="1847088"/>
            <a:ext cx="548640" cy="548640"/>
          </a:xfrm>
          <a:prstGeom prst="ellipse">
            <a:avLst/>
          </a:prstGeom>
          <a:solidFill>
            <a:srgbClr val="D98C3D"/>
          </a:solidFill>
          <a:ln/>
        </p:spPr>
      </p:sp>
      <p:pic>
        <p:nvPicPr>
          <p:cNvPr id="18" name="Image 1" descr="/home/claude/work/icons/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984248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159752" y="1874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Applied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537960" y="26974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CB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Apriori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537960" y="299008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5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 across Preferred Genre × Reason for Visit × Peak Hour (min support 0.05, confidence 0.30)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537960" y="38587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CB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(k=3)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537960" y="4151376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5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students on Visit Frequency, Books Borrowed, Digital Resources, Reading Duration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6537960" y="502005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FCB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Engine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537960" y="5312664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5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genre matching to suggest books &amp; digital resources per student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Snapshot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842516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/home/claude/work/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1984248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2821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508760" y="21762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64992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75888" y="1842516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/home/claude/work/icons/boo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620" y="198424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25112" y="172821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3,811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4325112" y="21762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Borrowed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81344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842516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/home/claude/work/icons/deskto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972" y="198424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41464" y="172821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12,518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7141464" y="21762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Resources Accessed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997696" y="160020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08592" y="1842516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1" name="Image 3" descr="/home/claude/work/icons/c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0324" y="198424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957816" y="172821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30.8 hrs</a:t>
            </a:r>
            <a:endParaRPr lang="en-US" sz="2100" dirty="0"/>
          </a:p>
        </p:txBody>
      </p:sp>
      <p:sp>
        <p:nvSpPr>
          <p:cNvPr id="23" name="Text 17"/>
          <p:cNvSpPr/>
          <p:nvPr/>
        </p:nvSpPr>
        <p:spPr>
          <a:xfrm>
            <a:off x="9957816" y="21762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Reading Duration</a:t>
            </a:r>
            <a:endParaRPr lang="en-US" sz="10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548640" y="2880360"/>
          <a:ext cx="36118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25" name="Chart 1" descr=""/>
          <p:cNvGraphicFramePr/>
          <p:nvPr/>
        </p:nvGraphicFramePr>
        <p:xfrm>
          <a:off x="4370832" y="2880360"/>
          <a:ext cx="36118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26" name="Chart 2" descr=""/>
          <p:cNvGraphicFramePr/>
          <p:nvPr/>
        </p:nvGraphicFramePr>
        <p:xfrm>
          <a:off x="8193024" y="2880360"/>
          <a:ext cx="36118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27" name="Shape 18"/>
          <p:cNvSpPr/>
          <p:nvPr/>
        </p:nvSpPr>
        <p:spPr>
          <a:xfrm>
            <a:off x="548640" y="539496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17321A"/>
          </a:solidFill>
          <a:ln/>
        </p:spPr>
      </p:sp>
      <p:sp>
        <p:nvSpPr>
          <p:cNvPr id="28" name="Shape 19"/>
          <p:cNvSpPr/>
          <p:nvPr/>
        </p:nvSpPr>
        <p:spPr>
          <a:xfrm>
            <a:off x="740664" y="5632704"/>
            <a:ext cx="384048" cy="384048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29" name="Image 4" descr="/home/claude/work/icons/bookmark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" y="5728716"/>
            <a:ext cx="192024" cy="19202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170432" y="5532120"/>
            <a:ext cx="150510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leads (82 of 500)</a:t>
            </a:r>
            <a:endParaRPr lang="en-US" sz="900" dirty="0"/>
          </a:p>
        </p:txBody>
      </p:sp>
      <p:sp>
        <p:nvSpPr>
          <p:cNvPr id="31" name="Shape 21"/>
          <p:cNvSpPr/>
          <p:nvPr/>
        </p:nvSpPr>
        <p:spPr>
          <a:xfrm>
            <a:off x="2958998" y="5632704"/>
            <a:ext cx="384048" cy="384048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32" name="Image 5" descr="/home/claude/work/icons/clock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55010" y="5728716"/>
            <a:ext cx="192024" cy="192024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3388766" y="5532120"/>
            <a:ext cx="150510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9 AM – 12 PM</a:t>
            </a:r>
            <a:endParaRPr lang="en-US" sz="900" dirty="0"/>
          </a:p>
        </p:txBody>
      </p:sp>
      <p:sp>
        <p:nvSpPr>
          <p:cNvPr id="34" name="Shape 23"/>
          <p:cNvSpPr/>
          <p:nvPr/>
        </p:nvSpPr>
        <p:spPr>
          <a:xfrm>
            <a:off x="5177333" y="5632704"/>
            <a:ext cx="384048" cy="384048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35" name="Image 6" descr="/home/claude/work/icons/users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73345" y="5728716"/>
            <a:ext cx="192024" cy="192024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607101" y="5532120"/>
            <a:ext cx="150510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 &amp; Research drive visits</a:t>
            </a:r>
            <a:endParaRPr lang="en-US" sz="900" dirty="0"/>
          </a:p>
        </p:txBody>
      </p:sp>
      <p:sp>
        <p:nvSpPr>
          <p:cNvPr id="37" name="Shape 25"/>
          <p:cNvSpPr/>
          <p:nvPr/>
        </p:nvSpPr>
        <p:spPr>
          <a:xfrm>
            <a:off x="7395667" y="5632704"/>
            <a:ext cx="384048" cy="384048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38" name="Image 7" descr="/home/claude/work/icons/layers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91679" y="5728716"/>
            <a:ext cx="192024" cy="192024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7825435" y="5532120"/>
            <a:ext cx="150510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access ~24-27 across levels</a:t>
            </a:r>
            <a:endParaRPr lang="en-US" sz="900" dirty="0"/>
          </a:p>
        </p:txBody>
      </p:sp>
      <p:sp>
        <p:nvSpPr>
          <p:cNvPr id="40" name="Shape 27"/>
          <p:cNvSpPr/>
          <p:nvPr/>
        </p:nvSpPr>
        <p:spPr>
          <a:xfrm>
            <a:off x="9614002" y="5632704"/>
            <a:ext cx="384048" cy="384048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41" name="Image 8" descr="/home/claude/work/icons/lightbulb_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10014" y="5728716"/>
            <a:ext cx="192024" cy="192024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10043770" y="5532120"/>
            <a:ext cx="150510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staff during 9 AM–12 PM</a:t>
            </a:r>
            <a:endParaRPr lang="en-US" sz="900" dirty="0"/>
          </a:p>
        </p:txBody>
      </p:sp>
      <p:sp>
        <p:nvSpPr>
          <p:cNvPr id="43" name="Text 2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44" name="Text 30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Usage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17321A"/>
          </a:solidFill>
          <a:ln/>
        </p:spPr>
      </p:sp>
      <p:sp>
        <p:nvSpPr>
          <p:cNvPr id="5" name="Shape 3"/>
          <p:cNvSpPr/>
          <p:nvPr/>
        </p:nvSpPr>
        <p:spPr>
          <a:xfrm>
            <a:off x="827532" y="1828800"/>
            <a:ext cx="502920" cy="502920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6" name="Image 0" descr="/home/claude/work/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262" y="19545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099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417320" y="21305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Students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64992" y="16002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17321A"/>
          </a:solidFill>
          <a:ln/>
        </p:spPr>
      </p:sp>
      <p:sp>
        <p:nvSpPr>
          <p:cNvPr id="10" name="Shape 7"/>
          <p:cNvSpPr/>
          <p:nvPr/>
        </p:nvSpPr>
        <p:spPr>
          <a:xfrm>
            <a:off x="3643884" y="1828800"/>
            <a:ext cx="502920" cy="502920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11" name="Image 1" descr="/home/claude/work/icons/boo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614" y="195453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33672" y="17099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3,811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233672" y="21305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Borrowed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81344" y="16002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17321A"/>
          </a:solidFill>
          <a:ln/>
        </p:spPr>
      </p:sp>
      <p:sp>
        <p:nvSpPr>
          <p:cNvPr id="15" name="Shape 11"/>
          <p:cNvSpPr/>
          <p:nvPr/>
        </p:nvSpPr>
        <p:spPr>
          <a:xfrm>
            <a:off x="6460236" y="1828800"/>
            <a:ext cx="502920" cy="502920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16" name="Image 2" descr="/home/claude/work/icons/deskto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966" y="195453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50024" y="17099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12,518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7050024" y="21305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Resources Accessed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8997696" y="16002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17321A"/>
          </a:solidFill>
          <a:ln/>
        </p:spPr>
      </p:sp>
      <p:sp>
        <p:nvSpPr>
          <p:cNvPr id="20" name="Shape 15"/>
          <p:cNvSpPr/>
          <p:nvPr/>
        </p:nvSpPr>
        <p:spPr>
          <a:xfrm>
            <a:off x="9276588" y="1828800"/>
            <a:ext cx="502920" cy="502920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21" name="Image 3" descr="/home/claude/work/icons/c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2318" y="195453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66376" y="17099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30.8 hrs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9866376" y="21305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Reading Duration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548640" y="2788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Preferred Genre — Demand by Students</a:t>
            </a:r>
            <a:endParaRPr lang="en-US" sz="13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548640" y="3108960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6" name="Text 19"/>
          <p:cNvSpPr/>
          <p:nvPr/>
        </p:nvSpPr>
        <p:spPr>
          <a:xfrm>
            <a:off x="6245352" y="2788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of Registrations by Peak Library Hour</a:t>
            </a:r>
            <a:endParaRPr lang="en-US" sz="1300" dirty="0"/>
          </a:p>
        </p:txBody>
      </p:sp>
      <p:graphicFrame>
        <p:nvGraphicFramePr>
          <p:cNvPr id="27" name="Chart 1" descr=""/>
          <p:cNvGraphicFramePr/>
          <p:nvPr/>
        </p:nvGraphicFramePr>
        <p:xfrm>
          <a:off x="6245352" y="3108960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8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 Purpose &amp; Association Patterns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 for Visit — Share of Students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645920"/>
            <a:ext cx="5605272" cy="4526280"/>
          </a:xfrm>
          <a:prstGeom prst="roundRect">
            <a:avLst>
              <a:gd name="adj" fmla="val 1616"/>
            </a:avLst>
          </a:prstGeom>
          <a:solidFill>
            <a:srgbClr val="17321A"/>
          </a:solidFill>
          <a:ln/>
        </p:spPr>
      </p:sp>
      <p:sp>
        <p:nvSpPr>
          <p:cNvPr id="7" name="Shape 4"/>
          <p:cNvSpPr/>
          <p:nvPr/>
        </p:nvSpPr>
        <p:spPr>
          <a:xfrm>
            <a:off x="6355080" y="1920240"/>
            <a:ext cx="548640" cy="548640"/>
          </a:xfrm>
          <a:prstGeom prst="ellipse">
            <a:avLst/>
          </a:prstGeom>
          <a:solidFill>
            <a:srgbClr val="D98C3D"/>
          </a:solidFill>
          <a:ln/>
        </p:spPr>
      </p:sp>
      <p:pic>
        <p:nvPicPr>
          <p:cNvPr id="8" name="Image 0" descr="/home/claude/work/icons/networ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574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95160" y="193852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Apriori — Association Insights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355080" y="2862072"/>
            <a:ext cx="82296" cy="82296"/>
          </a:xfrm>
          <a:prstGeom prst="ellipse">
            <a:avLst/>
          </a:prstGeom>
          <a:solidFill>
            <a:srgbClr val="6E9B4F"/>
          </a:solidFill>
          <a:ln/>
        </p:spPr>
      </p:sp>
      <p:sp>
        <p:nvSpPr>
          <p:cNvPr id="11" name="Text 7"/>
          <p:cNvSpPr/>
          <p:nvPr/>
        </p:nvSpPr>
        <p:spPr>
          <a:xfrm>
            <a:off x="6583680" y="274320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5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Preparation and Research together account for 192 of 500 visits (~38%) — the two largest visit purposes.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355080" y="3730752"/>
            <a:ext cx="82296" cy="82296"/>
          </a:xfrm>
          <a:prstGeom prst="ellipse">
            <a:avLst/>
          </a:prstGeom>
          <a:solidFill>
            <a:srgbClr val="6E9B4F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0" y="36118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5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Books and Reading are near-equal in demand, showing balanced use of physical and quiet-reading services.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55080" y="4599432"/>
            <a:ext cx="82296" cy="82296"/>
          </a:xfrm>
          <a:prstGeom prst="ellipse">
            <a:avLst/>
          </a:prstGeom>
          <a:solidFill>
            <a:srgbClr val="6E9B4F"/>
          </a:solidFill>
          <a:ln/>
        </p:spPr>
      </p:sp>
      <p:sp>
        <p:nvSpPr>
          <p:cNvPr id="15" name="Text 11"/>
          <p:cNvSpPr/>
          <p:nvPr/>
        </p:nvSpPr>
        <p:spPr>
          <a:xfrm>
            <a:off x="6583680" y="4480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5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and Technology are the two most preferred genres, together representing 32% of all preferences.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355080" y="5468112"/>
            <a:ext cx="82296" cy="82296"/>
          </a:xfrm>
          <a:prstGeom prst="ellipse">
            <a:avLst/>
          </a:prstGeom>
          <a:solidFill>
            <a:srgbClr val="6E9B4F"/>
          </a:solidFill>
          <a:ln/>
        </p:spPr>
      </p:sp>
      <p:sp>
        <p:nvSpPr>
          <p:cNvPr id="17" name="Text 13"/>
          <p:cNvSpPr/>
          <p:nvPr/>
        </p:nvSpPr>
        <p:spPr>
          <a:xfrm>
            <a:off x="6583680" y="53492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5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purpose is fairly evenly distributed across peak hours, with no single hour dominating library traffic.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Student Segmentation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Averages — Visit Frequency vs. Reading Duration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55778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0807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score: 0.187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0" y="1645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Profiles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0" y="2011680"/>
            <a:ext cx="52120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0" y="2011680"/>
            <a:ext cx="82296" cy="12070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7"/>
          <p:cNvSpPr/>
          <p:nvPr/>
        </p:nvSpPr>
        <p:spPr>
          <a:xfrm>
            <a:off x="6656832" y="21214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 Visitors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829800" y="21214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students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656832" y="2468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visit frequency (23.3/mo), lighter reading sessions (17.9 hrs).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0" y="3383280"/>
            <a:ext cx="52120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3383280"/>
            <a:ext cx="82296" cy="1207008"/>
          </a:xfrm>
          <a:prstGeom prst="rect">
            <a:avLst/>
          </a:prstGeom>
          <a:solidFill>
            <a:srgbClr val="6E9B4F"/>
          </a:solidFill>
          <a:ln/>
        </p:spPr>
      </p:sp>
      <p:sp>
        <p:nvSpPr>
          <p:cNvPr id="15" name="Text 12"/>
          <p:cNvSpPr/>
          <p:nvPr/>
        </p:nvSpPr>
        <p:spPr>
          <a:xfrm>
            <a:off x="6656832" y="34930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Readers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829800" y="34930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 students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656832" y="38404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reading duration (44.0 hrs) with fewer, focused visits.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0" y="4754880"/>
            <a:ext cx="52120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00800" y="4754880"/>
            <a:ext cx="82296" cy="1207008"/>
          </a:xfrm>
          <a:prstGeom prst="rect">
            <a:avLst/>
          </a:prstGeom>
          <a:solidFill>
            <a:srgbClr val="D98C3D"/>
          </a:solidFill>
          <a:ln/>
        </p:spPr>
      </p:sp>
      <p:sp>
        <p:nvSpPr>
          <p:cNvPr id="20" name="Text 17"/>
          <p:cNvSpPr/>
          <p:nvPr/>
        </p:nvSpPr>
        <p:spPr>
          <a:xfrm>
            <a:off x="6656832" y="48646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Digital-Heavy Users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9829800" y="48646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98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 students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656832" y="52120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digital-resource access (40.6) alongside strong reading time.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3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Enhancements &amp; Extensions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F3D2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6" name="Image 0" descr="/home/claude/work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659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14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Department Field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9718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D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department-wise utilization analysis — not fabricated in the current dataset.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F3D21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1828800"/>
            <a:ext cx="548640" cy="548640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11" name="Image 1" descr="/home/claude/work/icons/chartb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9659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514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Dashboard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17720" y="29718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D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pipeline to live circulation data for continuously updated insights.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229600" y="16002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F3D21"/>
          </a:solidFill>
          <a:ln/>
        </p:spPr>
      </p:sp>
      <p:sp>
        <p:nvSpPr>
          <p:cNvPr id="15" name="Shape 11"/>
          <p:cNvSpPr/>
          <p:nvPr/>
        </p:nvSpPr>
        <p:spPr>
          <a:xfrm>
            <a:off x="8503920" y="1828800"/>
            <a:ext cx="548640" cy="548640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16" name="Image 2" descr="/home/claude/work/icon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9659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2514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Recommender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458200" y="29718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D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rule-based suggestions to a collaborative-filtering or embedding model.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F3D21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21" name="Image 3" descr="/home/claude/work/icons/chartli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976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846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Demand Forecasting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5303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D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seasonal book demand and peak-hour footfall using time-series models.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89120" y="39319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F3D21"/>
          </a:solidFill>
          <a:ln/>
        </p:spPr>
      </p:sp>
      <p:sp>
        <p:nvSpPr>
          <p:cNvPr id="25" name="Shape 19"/>
          <p:cNvSpPr/>
          <p:nvPr/>
        </p:nvSpPr>
        <p:spPr>
          <a:xfrm>
            <a:off x="4663440" y="4160520"/>
            <a:ext cx="548640" cy="548640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26" name="Image 4" descr="/home/claude/work/icons/mobil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29768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4846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Self-Service App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617720" y="5303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D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students view personalized recommendations and reserve resources directly.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229600" y="39319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1F3D21"/>
          </a:solidFill>
          <a:ln/>
        </p:spPr>
      </p:sp>
      <p:sp>
        <p:nvSpPr>
          <p:cNvPr id="30" name="Shape 23"/>
          <p:cNvSpPr/>
          <p:nvPr/>
        </p:nvSpPr>
        <p:spPr>
          <a:xfrm>
            <a:off x="8503920" y="4160520"/>
            <a:ext cx="548640" cy="548640"/>
          </a:xfrm>
          <a:prstGeom prst="ellipse">
            <a:avLst/>
          </a:prstGeom>
          <a:solidFill>
            <a:srgbClr val="6E9B4F"/>
          </a:solidFill>
          <a:ln/>
        </p:spPr>
      </p:sp>
      <p:pic>
        <p:nvPicPr>
          <p:cNvPr id="31" name="Image 5" descr="/home/claude/work/icons/bell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429768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58200" y="4846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Staffing Alerts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458200" y="53035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D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seating/staff-allocation alerts automatically during predicted peak hours.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3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2C5F2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3657600" cy="3657600"/>
          </a:xfrm>
          <a:prstGeom prst="ellipse">
            <a:avLst/>
          </a:prstGeom>
          <a:solidFill>
            <a:srgbClr val="6E9B4F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14416" y="1668780"/>
            <a:ext cx="960120" cy="9601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/home/claude/work/icons/book_ope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446" y="1908810"/>
            <a:ext cx="480060" cy="480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88036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37033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7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Library Usage Analytics &amp; Data-Driven Insights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42062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D98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 ·   MCA   ·   BIG DATA PROJECT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0" y="59893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are welcome.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Streamlit Dashboard</a:t>
            </a:r>
            <a:endParaRPr lang="en-US" sz="3000" dirty="0"/>
          </a:p>
        </p:txBody>
      </p:sp>
      <p:sp>
        <p:nvSpPr>
          <p:cNvPr id="10" name="Frame"/>
          <p:cNvSpPr/>
          <p:nvPr/>
        </p:nvSpPr>
        <p:spPr>
          <a:xfrm>
            <a:off x="1884418" y="1395136"/>
            <a:ext cx="8420115" cy="42597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114300" dist="38100" dir="5400000">
              <a:srgbClr val="3A4A38">
                <a:alpha val="14000"/>
              </a:srgbClr>
            </a:outerShdw>
          </a:effectLst>
        </p:spPr>
      </p:sp>
      <p:pic>
        <p:nvPicPr>
          <p:cNvPr id="11" name="Screenshot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39282" y="1450000"/>
            <a:ext cx="8310387" cy="4150000"/>
          </a:xfrm>
          <a:prstGeom prst="roundRect">
            <a:avLst>
              <a:gd name="adj" fmla="val 1200"/>
            </a:avLst>
          </a:prstGeom>
        </p:spPr>
      </p:pic>
      <p:sp>
        <p:nvSpPr>
          <p:cNvPr id="20" name="InsightBar"/>
          <p:cNvSpPr/>
          <p:nvPr/>
        </p:nvSpPr>
        <p:spPr>
          <a:xfrm>
            <a:off x="548640" y="5818736"/>
            <a:ext cx="11091672" cy="502920"/>
          </a:xfrm>
          <a:prstGeom prst="roundRect">
            <a:avLst>
              <a:gd name="adj" fmla="val 5000"/>
            </a:avLst>
          </a:prstGeom>
          <a:solidFill>
            <a:srgbClr val="17321A"/>
          </a:solidFill>
          <a:ln/>
        </p:spPr>
        <p:txBody>
          <a:bodyPr wrap="square" lIns="182880" tIns="0" rIns="18288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multi-page Streamlit app reproducing the analysis: live KPI totals, genre demand, peak-hour traffic and visit-reason charts.</a:t>
            </a:r>
            <a:endParaRPr lang="en-US" sz="1150" dirty="0"/>
          </a:p>
        </p:txBody>
      </p:sp>
      <p:sp>
        <p:nvSpPr>
          <p:cNvPr id="90" name="Text Footer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91" name="Text PageNum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Association Rules &amp; Personalized Recommendations</a:t>
            </a:r>
            <a:endParaRPr lang="en-US" sz="3000" dirty="0"/>
          </a:p>
        </p:txBody>
      </p:sp>
      <p:sp>
        <p:nvSpPr>
          <p:cNvPr id="10" name="Frame"/>
          <p:cNvSpPr/>
          <p:nvPr/>
        </p:nvSpPr>
        <p:spPr>
          <a:xfrm>
            <a:off x="493776" y="1395136"/>
            <a:ext cx="5518404" cy="29697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114300" dist="38100" dir="5400000">
              <a:srgbClr val="3A4A38">
                <a:alpha val="14000"/>
              </a:srgbClr>
            </a:outerShdw>
          </a:effectLst>
        </p:spPr>
      </p:sp>
      <p:pic>
        <p:nvPicPr>
          <p:cNvPr id="11" name="Screenshot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8640" y="1450000"/>
            <a:ext cx="5408676" cy="2860000"/>
          </a:xfrm>
          <a:prstGeom prst="roundRect">
            <a:avLst>
              <a:gd name="adj" fmla="val 1200"/>
            </a:avLst>
          </a:prstGeom>
        </p:spPr>
      </p:pic>
      <p:sp>
        <p:nvSpPr>
          <p:cNvPr id="12" name="Frame"/>
          <p:cNvSpPr/>
          <p:nvPr/>
        </p:nvSpPr>
        <p:spPr>
          <a:xfrm>
            <a:off x="6176772" y="1395136"/>
            <a:ext cx="5518404" cy="29697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114300" dist="38100" dir="5400000">
              <a:srgbClr val="3A4A38">
                <a:alpha val="14000"/>
              </a:srgbClr>
            </a:outerShdw>
          </a:effectLst>
        </p:spPr>
      </p:sp>
      <p:pic>
        <p:nvPicPr>
          <p:cNvPr id="13" name="Screenshot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31636" y="1450000"/>
            <a:ext cx="5408676" cy="2860000"/>
          </a:xfrm>
          <a:prstGeom prst="roundRect">
            <a:avLst>
              <a:gd name="adj" fmla="val 1200"/>
            </a:avLst>
          </a:prstGeom>
        </p:spPr>
      </p:pic>
      <p:sp>
        <p:nvSpPr>
          <p:cNvPr id="20" name="Label"/>
          <p:cNvSpPr/>
          <p:nvPr/>
        </p:nvSpPr>
        <p:spPr>
          <a:xfrm>
            <a:off x="548640" y="4510000"/>
            <a:ext cx="5408676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Apriori Association Rules</a:t>
            </a:r>
            <a:endParaRPr lang="en-US" sz="1350" dirty="0"/>
          </a:p>
        </p:txBody>
      </p:sp>
      <p:sp>
        <p:nvSpPr>
          <p:cNvPr id="21" name="Label"/>
          <p:cNvSpPr/>
          <p:nvPr/>
        </p:nvSpPr>
        <p:spPr>
          <a:xfrm>
            <a:off x="6231636" y="4510000"/>
            <a:ext cx="5408676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 Recommendations</a:t>
            </a:r>
            <a:endParaRPr lang="en-US" sz="1350" dirty="0"/>
          </a:p>
        </p:txBody>
      </p:sp>
      <p:sp>
        <p:nvSpPr>
          <p:cNvPr id="30" name="Caption"/>
          <p:cNvSpPr/>
          <p:nvPr/>
        </p:nvSpPr>
        <p:spPr>
          <a:xfrm>
            <a:off x="548640" y="4830000"/>
            <a:ext cx="5408676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rules ranked by lift — e.g. Peak Hour 9 AM → Study visits (confidence 24%, lift 1.84) and Peak Hour 4 PM → History genre.</a:t>
            </a:r>
            <a:endParaRPr lang="en-US" sz="1100" dirty="0"/>
          </a:p>
        </p:txBody>
      </p:sp>
      <p:sp>
        <p:nvSpPr>
          <p:cNvPr id="31" name="Caption"/>
          <p:cNvSpPr/>
          <p:nvPr/>
        </p:nvSpPr>
        <p:spPr>
          <a:xfrm>
            <a:off x="6231636" y="4830000"/>
            <a:ext cx="5408676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Registration No. to generate genre-based reading &amp; digital-resource suggestions, plus purchase and peak-hour staffing guidance.</a:t>
            </a:r>
            <a:endParaRPr lang="en-US" sz="1100" dirty="0"/>
          </a:p>
        </p:txBody>
      </p:sp>
      <p:sp>
        <p:nvSpPr>
          <p:cNvPr id="40" name="InsightBar"/>
          <p:cNvSpPr/>
          <p:nvPr/>
        </p:nvSpPr>
        <p:spPr>
          <a:xfrm>
            <a:off x="548640" y="5621440"/>
            <a:ext cx="11091672" cy="502920"/>
          </a:xfrm>
          <a:prstGeom prst="roundRect">
            <a:avLst>
              <a:gd name="adj" fmla="val 5000"/>
            </a:avLst>
          </a:prstGeom>
          <a:solidFill>
            <a:srgbClr val="17321A"/>
          </a:solidFill>
          <a:ln/>
        </p:spPr>
        <p:txBody>
          <a:bodyPr wrap="square" lIns="182880" tIns="0" rIns="18288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views are live tabs of the same deployed app — Apriori Patterns and Recommendations — alongside the Dashboard shown previously.</a:t>
            </a:r>
            <a:endParaRPr lang="en-US" sz="1150" dirty="0"/>
          </a:p>
        </p:txBody>
      </p:sp>
      <p:sp>
        <p:nvSpPr>
          <p:cNvPr id="90" name="Text Footer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91" name="Text PageNum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Executive Dashboard</a:t>
            </a:r>
            <a:endParaRPr lang="en-US" sz="3000" dirty="0"/>
          </a:p>
        </p:txBody>
      </p:sp>
      <p:sp>
        <p:nvSpPr>
          <p:cNvPr id="10" name="Frame"/>
          <p:cNvSpPr/>
          <p:nvPr/>
        </p:nvSpPr>
        <p:spPr>
          <a:xfrm>
            <a:off x="2420138" y="1395136"/>
            <a:ext cx="7348676" cy="42597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114300" dist="38100" dir="5400000">
              <a:srgbClr val="3A4A38">
                <a:alpha val="14000"/>
              </a:srgbClr>
            </a:outerShdw>
          </a:effectLst>
        </p:spPr>
      </p:sp>
      <p:pic>
        <p:nvPicPr>
          <p:cNvPr id="11" name="Screenshot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75002" y="1450000"/>
            <a:ext cx="7238948" cy="4150000"/>
          </a:xfrm>
          <a:prstGeom prst="roundRect">
            <a:avLst>
              <a:gd name="adj" fmla="val 1200"/>
            </a:avLst>
          </a:prstGeom>
        </p:spPr>
      </p:pic>
      <p:sp>
        <p:nvSpPr>
          <p:cNvPr id="20" name="InsightBar"/>
          <p:cNvSpPr/>
          <p:nvPr/>
        </p:nvSpPr>
        <p:spPr>
          <a:xfrm>
            <a:off x="548640" y="5818736"/>
            <a:ext cx="11091672" cy="502920"/>
          </a:xfrm>
          <a:prstGeom prst="roundRect">
            <a:avLst>
              <a:gd name="adj" fmla="val 5000"/>
            </a:avLst>
          </a:prstGeom>
          <a:solidFill>
            <a:srgbClr val="17321A"/>
          </a:solidFill>
          <a:ln/>
        </p:spPr>
        <p:txBody>
          <a:bodyPr wrap="square" lIns="182880" tIns="0" rIns="18288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complementary Power BI report for stakeholders — KPI cards, genre demand, visit-reason mix, peak-hour traffic and monthly visit frequency.</a:t>
            </a:r>
            <a:endParaRPr lang="en-US" sz="1150" dirty="0"/>
          </a:p>
        </p:txBody>
      </p:sp>
      <p:sp>
        <p:nvSpPr>
          <p:cNvPr id="90" name="Text Footer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91" name="Text PageNum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Form Survey → Structured Dataset</a:t>
            </a:r>
            <a:endParaRPr lang="en-US" sz="3000" dirty="0"/>
          </a:p>
        </p:txBody>
      </p:sp>
      <p:sp>
        <p:nvSpPr>
          <p:cNvPr id="10" name="Frame"/>
          <p:cNvSpPr/>
          <p:nvPr/>
        </p:nvSpPr>
        <p:spPr>
          <a:xfrm>
            <a:off x="1038174" y="1395136"/>
            <a:ext cx="2474522" cy="36597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114300" dist="38100" dir="5400000">
              <a:srgbClr val="3A4A38">
                <a:alpha val="14000"/>
              </a:srgbClr>
            </a:outerShdw>
          </a:effectLst>
        </p:spPr>
      </p:sp>
      <p:pic>
        <p:nvPicPr>
          <p:cNvPr id="11" name="Screenshot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93038" y="1450000"/>
            <a:ext cx="2364794" cy="3550000"/>
          </a:xfrm>
          <a:prstGeom prst="roundRect">
            <a:avLst>
              <a:gd name="adj" fmla="val 1200"/>
            </a:avLst>
          </a:prstGeom>
        </p:spPr>
      </p:pic>
      <p:sp>
        <p:nvSpPr>
          <p:cNvPr id="12" name="Frame"/>
          <p:cNvSpPr/>
          <p:nvPr/>
        </p:nvSpPr>
        <p:spPr>
          <a:xfrm>
            <a:off x="3723008" y="1395136"/>
            <a:ext cx="7427770" cy="36597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114300" dist="38100" dir="5400000">
              <a:srgbClr val="3A4A38">
                <a:alpha val="14000"/>
              </a:srgbClr>
            </a:outerShdw>
          </a:effectLst>
        </p:spPr>
      </p:sp>
      <p:pic>
        <p:nvPicPr>
          <p:cNvPr id="13" name="Screenshot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777872" y="1450000"/>
            <a:ext cx="7318042" cy="3550000"/>
          </a:xfrm>
          <a:prstGeom prst="roundRect">
            <a:avLst>
              <a:gd name="adj" fmla="val 1200"/>
            </a:avLst>
          </a:prstGeom>
        </p:spPr>
      </p:pic>
      <p:sp>
        <p:nvSpPr>
          <p:cNvPr id="20" name="Label"/>
          <p:cNvSpPr/>
          <p:nvPr/>
        </p:nvSpPr>
        <p:spPr>
          <a:xfrm>
            <a:off x="1093038" y="5150000"/>
            <a:ext cx="2364794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Form Survey</a:t>
            </a:r>
            <a:endParaRPr lang="en-US" sz="1350" dirty="0"/>
          </a:p>
        </p:txBody>
      </p:sp>
      <p:sp>
        <p:nvSpPr>
          <p:cNvPr id="21" name="Label"/>
          <p:cNvSpPr/>
          <p:nvPr/>
        </p:nvSpPr>
        <p:spPr>
          <a:xfrm>
            <a:off x="3777872" y="5150000"/>
            <a:ext cx="7318042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Consolidated Dataset</a:t>
            </a:r>
            <a:endParaRPr lang="en-US" sz="1350" dirty="0"/>
          </a:p>
        </p:txBody>
      </p:sp>
      <p:sp>
        <p:nvSpPr>
          <p:cNvPr id="30" name="Caption"/>
          <p:cNvSpPr/>
          <p:nvPr/>
        </p:nvSpPr>
        <p:spPr>
          <a:xfrm>
            <a:off x="1093038" y="5470000"/>
            <a:ext cx="2364794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Google Form was used to pilot data collection — capturing visit frequency, borrowing, digital-resource use, reading duration, genre and reason for visit.</a:t>
            </a:r>
            <a:endParaRPr lang="en-US" sz="110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1100" b="1" u="sng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0"/>
              </a:rPr>
              <a:t>Open the Google Form</a:t>
            </a:r>
            <a:endParaRPr lang="en-US" sz="1100" dirty="0"/>
          </a:p>
        </p:txBody>
      </p:sp>
      <p:sp>
        <p:nvSpPr>
          <p:cNvPr id="31" name="Caption"/>
          <p:cNvSpPr/>
          <p:nvPr/>
        </p:nvSpPr>
        <p:spPr>
          <a:xfrm>
            <a:off x="3777872" y="5470000"/>
            <a:ext cx="7318042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were consolidated and scaled into the full 500-record working dataset (Library_Management_Dataset.xlsx) used for Apriori, K-Means and the recommendation engine.</a:t>
            </a:r>
            <a:endParaRPr lang="en-US" sz="1100" dirty="0"/>
          </a:p>
        </p:txBody>
      </p:sp>
      <p:sp>
        <p:nvSpPr>
          <p:cNvPr id="90" name="Text Footer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91" name="Text PageNum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0408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Segmentation — K-Means Clustering</a:t>
            </a:r>
            <a:endParaRPr lang="en-US" sz="3000" dirty="0"/>
          </a:p>
        </p:txBody>
      </p:sp>
      <p:sp>
        <p:nvSpPr>
          <p:cNvPr id="10" name="Frame"/>
          <p:cNvSpPr/>
          <p:nvPr/>
        </p:nvSpPr>
        <p:spPr>
          <a:xfrm>
            <a:off x="1884418" y="1583822"/>
            <a:ext cx="8420115" cy="404622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114300" dist="38100" dir="5400000">
              <a:srgbClr val="3A4A38">
                <a:alpha val="14000"/>
              </a:srgbClr>
            </a:outerShdw>
          </a:effectLst>
        </p:spPr>
      </p:sp>
      <p:pic>
        <p:nvPicPr>
          <p:cNvPr id="11" name="Screenshot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39282" y="1638686"/>
            <a:ext cx="8310387" cy="3936499"/>
          </a:xfrm>
          <a:prstGeom prst="roundRect">
            <a:avLst>
              <a:gd name="adj" fmla="val 1200"/>
            </a:avLst>
          </a:prstGeom>
        </p:spPr>
      </p:pic>
      <p:sp>
        <p:nvSpPr>
          <p:cNvPr id="20" name="InsightBar"/>
          <p:cNvSpPr/>
          <p:nvPr/>
        </p:nvSpPr>
        <p:spPr>
          <a:xfrm>
            <a:off x="548640" y="5818736"/>
            <a:ext cx="11091672" cy="502920"/>
          </a:xfrm>
          <a:prstGeom prst="roundRect">
            <a:avLst>
              <a:gd name="adj" fmla="val 5000"/>
            </a:avLst>
          </a:prstGeom>
          <a:solidFill>
            <a:srgbClr val="17321A"/>
          </a:solidFill>
          <a:ln/>
        </p:spPr>
        <p:txBody>
          <a:bodyPr wrap="square" lIns="182880" tIns="0" rIns="18288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deployed app, K-Means tab: adjustable cluster count, live cluster-profile table, elbow method and PCA scatter for all 500 students.</a:t>
            </a:r>
            <a:endParaRPr lang="en-US" sz="1150" dirty="0"/>
          </a:p>
        </p:txBody>
      </p:sp>
      <p:sp>
        <p:nvSpPr>
          <p:cNvPr id="90" name="Text Footer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91" name="Text PageNum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DISCUSSION</a:t>
            </a:r>
            <a:endParaRPr lang="en-US" sz="1200" dirty="0"/>
          </a:p>
        </p:txBody>
      </p:sp>
      <p:sp>
        <p:nvSpPr>
          <p:cNvPr id="102" name="Text"/>
          <p:cNvSpPr/>
          <p:nvPr/>
        </p:nvSpPr>
        <p:spPr>
          <a:xfrm>
            <a:off x="548640" y="7040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Apriori Model Evaluation</a:t>
            </a:r>
            <a:endParaRPr lang="en-US" sz="3000" dirty="0"/>
          </a:p>
        </p:txBody>
      </p:sp>
      <p:sp>
        <p:nvSpPr>
          <p:cNvPr id="103" name="Text"/>
          <p:cNvSpPr/>
          <p:nvPr/>
        </p:nvSpPr>
        <p:spPr>
          <a:xfrm>
            <a:off x="548640" y="1645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 Itemsets, Rules &amp; Quality Metrics</a:t>
            </a:r>
            <a:endParaRPr lang="en-US" sz="1300" dirty="0"/>
          </a:p>
        </p:txBody>
      </p:sp>
      <p:sp>
        <p:nvSpPr>
          <p:cNvPr id="104" name="Frame"/>
          <p:cNvSpPr/>
          <p:nvPr/>
        </p:nvSpPr>
        <p:spPr>
          <a:xfrm>
            <a:off x="548640" y="1965960"/>
            <a:ext cx="4800000" cy="286223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pic>
        <p:nvPicPr>
          <p:cNvPr id="105" name="Screenshot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3504" y="2020824"/>
            <a:ext cx="4690272" cy="2752507"/>
          </a:xfrm>
          <a:prstGeom prst="roundRect">
            <a:avLst>
              <a:gd name="adj" fmla="val 1500"/>
            </a:avLst>
          </a:prstGeom>
        </p:spPr>
      </p:pic>
      <p:sp>
        <p:nvSpPr>
          <p:cNvPr id="106" name="Text"/>
          <p:cNvSpPr/>
          <p:nvPr/>
        </p:nvSpPr>
        <p:spPr>
          <a:xfrm>
            <a:off x="548640" y="5048195"/>
            <a:ext cx="4800000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output — mlxtend Apriori evaluation run on the 500-student transaction data. An average lift above 1.0 confirms the mined rules reflect genuine associations rather than random co-occurrence.</a:t>
            </a:r>
            <a:endParaRPr lang="en-US" sz="1050" dirty="0"/>
          </a:p>
        </p:txBody>
      </p:sp>
      <p:sp>
        <p:nvSpPr>
          <p:cNvPr id="107" name="StatCard"/>
          <p:cNvSpPr/>
          <p:nvPr/>
        </p:nvSpPr>
        <p:spPr>
          <a:xfrm>
            <a:off x="5748640" y="1965960"/>
            <a:ext cx="5894720" cy="4442856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108" name="Text"/>
          <p:cNvSpPr/>
          <p:nvPr/>
        </p:nvSpPr>
        <p:spPr>
          <a:xfrm>
            <a:off x="6028640" y="2195960"/>
            <a:ext cx="533472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 Summary</a:t>
            </a:r>
            <a:endParaRPr lang="en-US" sz="1400" dirty="0"/>
          </a:p>
        </p:txBody>
      </p:sp>
      <p:sp>
        <p:nvSpPr>
          <p:cNvPr id="109" name="Divider"/>
          <p:cNvSpPr/>
          <p:nvPr/>
        </p:nvSpPr>
        <p:spPr>
          <a:xfrm>
            <a:off x="6028640" y="2665960"/>
            <a:ext cx="5334720" cy="12700"/>
          </a:xfrm>
          <a:prstGeom prst="rect">
            <a:avLst/>
          </a:prstGeom>
          <a:solidFill>
            <a:srgbClr val="E1E3DC"/>
          </a:solidFill>
          <a:ln/>
        </p:spPr>
      </p:sp>
      <p:sp>
        <p:nvSpPr>
          <p:cNvPr id="110" name="Text"/>
          <p:cNvSpPr/>
          <p:nvPr/>
        </p:nvSpPr>
        <p:spPr>
          <a:xfrm>
            <a:off x="6028640" y="2705960"/>
            <a:ext cx="3200832" cy="710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Itemsets</a:t>
            </a:r>
            <a:endParaRPr lang="en-US" sz="1250" dirty="0"/>
          </a:p>
        </p:txBody>
      </p:sp>
      <p:sp>
        <p:nvSpPr>
          <p:cNvPr id="111" name="Text"/>
          <p:cNvSpPr/>
          <p:nvPr/>
        </p:nvSpPr>
        <p:spPr>
          <a:xfrm>
            <a:off x="8962736" y="2705960"/>
            <a:ext cx="2400624" cy="710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1500" dirty="0"/>
          </a:p>
        </p:txBody>
      </p:sp>
      <p:sp>
        <p:nvSpPr>
          <p:cNvPr id="112" name="Divider"/>
          <p:cNvSpPr/>
          <p:nvPr/>
        </p:nvSpPr>
        <p:spPr>
          <a:xfrm>
            <a:off x="6028640" y="3416531"/>
            <a:ext cx="5334720" cy="9525"/>
          </a:xfrm>
          <a:prstGeom prst="rect">
            <a:avLst/>
          </a:prstGeom>
          <a:solidFill>
            <a:srgbClr val="E1E3DC"/>
          </a:solidFill>
          <a:ln/>
        </p:spPr>
      </p:sp>
      <p:sp>
        <p:nvSpPr>
          <p:cNvPr id="113" name="Text"/>
          <p:cNvSpPr/>
          <p:nvPr/>
        </p:nvSpPr>
        <p:spPr>
          <a:xfrm>
            <a:off x="6028640" y="3456531"/>
            <a:ext cx="3200832" cy="710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</a:t>
            </a:r>
            <a:endParaRPr lang="en-US" sz="1250" dirty="0"/>
          </a:p>
        </p:txBody>
      </p:sp>
      <p:sp>
        <p:nvSpPr>
          <p:cNvPr id="114" name="Text"/>
          <p:cNvSpPr/>
          <p:nvPr/>
        </p:nvSpPr>
        <p:spPr>
          <a:xfrm>
            <a:off x="8962736" y="3456531"/>
            <a:ext cx="2400624" cy="710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1500" dirty="0"/>
          </a:p>
        </p:txBody>
      </p:sp>
      <p:sp>
        <p:nvSpPr>
          <p:cNvPr id="115" name="Divider"/>
          <p:cNvSpPr/>
          <p:nvPr/>
        </p:nvSpPr>
        <p:spPr>
          <a:xfrm>
            <a:off x="6028640" y="4167102"/>
            <a:ext cx="5334720" cy="9525"/>
          </a:xfrm>
          <a:prstGeom prst="rect">
            <a:avLst/>
          </a:prstGeom>
          <a:solidFill>
            <a:srgbClr val="E1E3DC"/>
          </a:solidFill>
          <a:ln/>
        </p:spPr>
      </p:sp>
      <p:sp>
        <p:nvSpPr>
          <p:cNvPr id="116" name="Text"/>
          <p:cNvSpPr/>
          <p:nvPr/>
        </p:nvSpPr>
        <p:spPr>
          <a:xfrm>
            <a:off x="6028640" y="4207102"/>
            <a:ext cx="3200832" cy="710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Support</a:t>
            </a:r>
            <a:endParaRPr lang="en-US" sz="1250" dirty="0"/>
          </a:p>
        </p:txBody>
      </p:sp>
      <p:sp>
        <p:nvSpPr>
          <p:cNvPr id="117" name="Text"/>
          <p:cNvSpPr/>
          <p:nvPr/>
        </p:nvSpPr>
        <p:spPr>
          <a:xfrm>
            <a:off x="8962736" y="4207102"/>
            <a:ext cx="2400624" cy="710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0.026</a:t>
            </a:r>
            <a:endParaRPr lang="en-US" sz="1500" dirty="0"/>
          </a:p>
        </p:txBody>
      </p:sp>
      <p:sp>
        <p:nvSpPr>
          <p:cNvPr id="118" name="Divider"/>
          <p:cNvSpPr/>
          <p:nvPr/>
        </p:nvSpPr>
        <p:spPr>
          <a:xfrm>
            <a:off x="6028640" y="4917673"/>
            <a:ext cx="5334720" cy="9525"/>
          </a:xfrm>
          <a:prstGeom prst="rect">
            <a:avLst/>
          </a:prstGeom>
          <a:solidFill>
            <a:srgbClr val="E1E3DC"/>
          </a:solidFill>
          <a:ln/>
        </p:spPr>
      </p:sp>
      <p:sp>
        <p:nvSpPr>
          <p:cNvPr id="119" name="Text"/>
          <p:cNvSpPr/>
          <p:nvPr/>
        </p:nvSpPr>
        <p:spPr>
          <a:xfrm>
            <a:off x="6028640" y="4957673"/>
            <a:ext cx="3200832" cy="710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Confidence</a:t>
            </a:r>
            <a:endParaRPr lang="en-US" sz="1250" dirty="0"/>
          </a:p>
        </p:txBody>
      </p:sp>
      <p:sp>
        <p:nvSpPr>
          <p:cNvPr id="120" name="Text"/>
          <p:cNvSpPr/>
          <p:nvPr/>
        </p:nvSpPr>
        <p:spPr>
          <a:xfrm>
            <a:off x="8962736" y="4957673"/>
            <a:ext cx="2400624" cy="710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0.176</a:t>
            </a:r>
            <a:endParaRPr lang="en-US" sz="1500" dirty="0"/>
          </a:p>
        </p:txBody>
      </p:sp>
      <p:sp>
        <p:nvSpPr>
          <p:cNvPr id="121" name="Divider"/>
          <p:cNvSpPr/>
          <p:nvPr/>
        </p:nvSpPr>
        <p:spPr>
          <a:xfrm>
            <a:off x="6028640" y="5668244"/>
            <a:ext cx="5334720" cy="9525"/>
          </a:xfrm>
          <a:prstGeom prst="rect">
            <a:avLst/>
          </a:prstGeom>
          <a:solidFill>
            <a:srgbClr val="E1E3DC"/>
          </a:solidFill>
          <a:ln/>
        </p:spPr>
      </p:sp>
      <p:sp>
        <p:nvSpPr>
          <p:cNvPr id="122" name="Text"/>
          <p:cNvSpPr/>
          <p:nvPr/>
        </p:nvSpPr>
        <p:spPr>
          <a:xfrm>
            <a:off x="6028640" y="5708244"/>
            <a:ext cx="3200832" cy="710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Lift</a:t>
            </a:r>
            <a:endParaRPr lang="en-US" sz="1250" dirty="0"/>
          </a:p>
        </p:txBody>
      </p:sp>
      <p:sp>
        <p:nvSpPr>
          <p:cNvPr id="123" name="Text"/>
          <p:cNvSpPr/>
          <p:nvPr/>
        </p:nvSpPr>
        <p:spPr>
          <a:xfrm>
            <a:off x="8962736" y="5708244"/>
            <a:ext cx="2400624" cy="710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1.185</a:t>
            </a:r>
            <a:endParaRPr lang="en-US" sz="1500" dirty="0"/>
          </a:p>
        </p:txBody>
      </p:sp>
      <p:sp>
        <p:nvSpPr>
          <p:cNvPr id="124" name="Text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125" name="Text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dirty="0">
                <a:solidFill>
                  <a:srgbClr val="6E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202" name="Text"/>
          <p:cNvSpPr/>
          <p:nvPr/>
        </p:nvSpPr>
        <p:spPr>
          <a:xfrm>
            <a:off x="548640" y="7040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Members</a:t>
            </a:r>
            <a:endParaRPr lang="en-US" sz="3000" dirty="0"/>
          </a:p>
        </p:txBody>
      </p:sp>
      <p:sp>
        <p:nvSpPr>
          <p:cNvPr id="203" name="Text"/>
          <p:cNvSpPr/>
          <p:nvPr/>
        </p:nvSpPr>
        <p:spPr>
          <a:xfrm>
            <a:off x="548640" y="1645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·  MCA  ·  Big Data Project</a:t>
            </a:r>
            <a:endParaRPr lang="en-US" sz="1300" dirty="0"/>
          </a:p>
        </p:txBody>
      </p:sp>
      <p:sp>
        <p:nvSpPr>
          <p:cNvPr id="204" name="Card"/>
          <p:cNvSpPr/>
          <p:nvPr/>
        </p:nvSpPr>
        <p:spPr>
          <a:xfrm>
            <a:off x="548640" y="1965960"/>
            <a:ext cx="3444906" cy="2000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205" name="Avatar"/>
          <p:cNvSpPr/>
          <p:nvPr/>
        </p:nvSpPr>
        <p:spPr>
          <a:xfrm>
            <a:off x="1896093" y="2135960"/>
            <a:ext cx="750000" cy="7500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06" name="Text"/>
          <p:cNvSpPr/>
          <p:nvPr/>
        </p:nvSpPr>
        <p:spPr>
          <a:xfrm>
            <a:off x="548640" y="2135960"/>
            <a:ext cx="3444906" cy="7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</a:t>
            </a:r>
            <a:endParaRPr lang="en-US" sz="1900" dirty="0"/>
          </a:p>
        </p:txBody>
      </p:sp>
      <p:sp>
        <p:nvSpPr>
          <p:cNvPr id="207" name="Text"/>
          <p:cNvSpPr/>
          <p:nvPr/>
        </p:nvSpPr>
        <p:spPr>
          <a:xfrm>
            <a:off x="688640" y="3005960"/>
            <a:ext cx="3164906" cy="33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Atish M</a:t>
            </a:r>
            <a:endParaRPr lang="en-US" sz="1400" dirty="0"/>
          </a:p>
        </p:txBody>
      </p:sp>
      <p:sp>
        <p:nvSpPr>
          <p:cNvPr id="208" name="Divider"/>
          <p:cNvSpPr/>
          <p:nvPr/>
        </p:nvSpPr>
        <p:spPr>
          <a:xfrm>
            <a:off x="1951093" y="3425960"/>
            <a:ext cx="640000" cy="9525"/>
          </a:xfrm>
          <a:prstGeom prst="rect">
            <a:avLst/>
          </a:prstGeom>
          <a:solidFill>
            <a:srgbClr val="E1E3DC"/>
          </a:solidFill>
          <a:ln/>
        </p:spPr>
      </p:sp>
      <p:sp>
        <p:nvSpPr>
          <p:cNvPr id="209" name="Text"/>
          <p:cNvSpPr/>
          <p:nvPr/>
        </p:nvSpPr>
        <p:spPr>
          <a:xfrm>
            <a:off x="728640" y="3515960"/>
            <a:ext cx="308490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000" dirty="0"/>
          </a:p>
        </p:txBody>
      </p:sp>
      <p:sp>
        <p:nvSpPr>
          <p:cNvPr id="210" name="Card"/>
          <p:cNvSpPr/>
          <p:nvPr/>
        </p:nvSpPr>
        <p:spPr>
          <a:xfrm>
            <a:off x="4373546" y="1965960"/>
            <a:ext cx="3444906" cy="2000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211" name="Avatar"/>
          <p:cNvSpPr/>
          <p:nvPr/>
        </p:nvSpPr>
        <p:spPr>
          <a:xfrm>
            <a:off x="5720999" y="2135960"/>
            <a:ext cx="750000" cy="750000"/>
          </a:xfrm>
          <a:prstGeom prst="ellipse">
            <a:avLst/>
          </a:prstGeom>
          <a:solidFill>
            <a:srgbClr val="6E9B4F"/>
          </a:solidFill>
          <a:ln/>
        </p:spPr>
      </p:sp>
      <p:sp>
        <p:nvSpPr>
          <p:cNvPr id="212" name="Text"/>
          <p:cNvSpPr/>
          <p:nvPr/>
        </p:nvSpPr>
        <p:spPr>
          <a:xfrm>
            <a:off x="4373546" y="2135960"/>
            <a:ext cx="3444906" cy="7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</a:t>
            </a:r>
            <a:endParaRPr lang="en-US" sz="1900" dirty="0"/>
          </a:p>
        </p:txBody>
      </p:sp>
      <p:sp>
        <p:nvSpPr>
          <p:cNvPr id="213" name="Text"/>
          <p:cNvSpPr/>
          <p:nvPr/>
        </p:nvSpPr>
        <p:spPr>
          <a:xfrm>
            <a:off x="4513546" y="3005960"/>
            <a:ext cx="3164906" cy="33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Muntazar</a:t>
            </a:r>
            <a:endParaRPr lang="en-US" sz="1400" dirty="0"/>
          </a:p>
        </p:txBody>
      </p:sp>
      <p:sp>
        <p:nvSpPr>
          <p:cNvPr id="214" name="Divider"/>
          <p:cNvSpPr/>
          <p:nvPr/>
        </p:nvSpPr>
        <p:spPr>
          <a:xfrm>
            <a:off x="5775999" y="3425960"/>
            <a:ext cx="640000" cy="9525"/>
          </a:xfrm>
          <a:prstGeom prst="rect">
            <a:avLst/>
          </a:prstGeom>
          <a:solidFill>
            <a:srgbClr val="E1E3DC"/>
          </a:solidFill>
          <a:ln/>
        </p:spPr>
      </p:sp>
      <p:sp>
        <p:nvSpPr>
          <p:cNvPr id="215" name="Text"/>
          <p:cNvSpPr/>
          <p:nvPr/>
        </p:nvSpPr>
        <p:spPr>
          <a:xfrm>
            <a:off x="4553546" y="3515960"/>
            <a:ext cx="308490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000" dirty="0"/>
          </a:p>
        </p:txBody>
      </p:sp>
      <p:sp>
        <p:nvSpPr>
          <p:cNvPr id="216" name="Card"/>
          <p:cNvSpPr/>
          <p:nvPr/>
        </p:nvSpPr>
        <p:spPr>
          <a:xfrm>
            <a:off x="8198452" y="1965960"/>
            <a:ext cx="3444906" cy="2000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217" name="Avatar"/>
          <p:cNvSpPr/>
          <p:nvPr/>
        </p:nvSpPr>
        <p:spPr>
          <a:xfrm>
            <a:off x="9545905" y="2135960"/>
            <a:ext cx="750000" cy="750000"/>
          </a:xfrm>
          <a:prstGeom prst="ellipse">
            <a:avLst/>
          </a:prstGeom>
          <a:solidFill>
            <a:srgbClr val="D98C3D"/>
          </a:solidFill>
          <a:ln/>
        </p:spPr>
      </p:sp>
      <p:sp>
        <p:nvSpPr>
          <p:cNvPr id="218" name="Text"/>
          <p:cNvSpPr/>
          <p:nvPr/>
        </p:nvSpPr>
        <p:spPr>
          <a:xfrm>
            <a:off x="8198452" y="2135960"/>
            <a:ext cx="3444906" cy="7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</a:t>
            </a:r>
            <a:endParaRPr lang="en-US" sz="1900" dirty="0"/>
          </a:p>
        </p:txBody>
      </p:sp>
      <p:sp>
        <p:nvSpPr>
          <p:cNvPr id="219" name="Text"/>
          <p:cNvSpPr/>
          <p:nvPr/>
        </p:nvSpPr>
        <p:spPr>
          <a:xfrm>
            <a:off x="8338452" y="3005960"/>
            <a:ext cx="3164906" cy="33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Moses</a:t>
            </a:r>
            <a:endParaRPr lang="en-US" sz="1400" dirty="0"/>
          </a:p>
        </p:txBody>
      </p:sp>
      <p:sp>
        <p:nvSpPr>
          <p:cNvPr id="220" name="Divider"/>
          <p:cNvSpPr/>
          <p:nvPr/>
        </p:nvSpPr>
        <p:spPr>
          <a:xfrm>
            <a:off x="9600905" y="3425960"/>
            <a:ext cx="640000" cy="9525"/>
          </a:xfrm>
          <a:prstGeom prst="rect">
            <a:avLst/>
          </a:prstGeom>
          <a:solidFill>
            <a:srgbClr val="E1E3DC"/>
          </a:solidFill>
          <a:ln/>
        </p:spPr>
      </p:sp>
      <p:sp>
        <p:nvSpPr>
          <p:cNvPr id="221" name="Text"/>
          <p:cNvSpPr/>
          <p:nvPr/>
        </p:nvSpPr>
        <p:spPr>
          <a:xfrm>
            <a:off x="8378452" y="3515960"/>
            <a:ext cx="308490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 and PPT Creation</a:t>
            </a:r>
            <a:endParaRPr lang="en-US" sz="1000" dirty="0"/>
          </a:p>
        </p:txBody>
      </p:sp>
      <p:sp>
        <p:nvSpPr>
          <p:cNvPr id="222" name="Card"/>
          <p:cNvSpPr/>
          <p:nvPr/>
        </p:nvSpPr>
        <p:spPr>
          <a:xfrm>
            <a:off x="548640" y="4265960"/>
            <a:ext cx="3444906" cy="2000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223" name="Avatar"/>
          <p:cNvSpPr/>
          <p:nvPr/>
        </p:nvSpPr>
        <p:spPr>
          <a:xfrm>
            <a:off x="1896093" y="4435960"/>
            <a:ext cx="750000" cy="7500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4" name="Text"/>
          <p:cNvSpPr/>
          <p:nvPr/>
        </p:nvSpPr>
        <p:spPr>
          <a:xfrm>
            <a:off x="548640" y="4435960"/>
            <a:ext cx="3444906" cy="7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PN</a:t>
            </a:r>
            <a:endParaRPr lang="en-US" sz="1900" dirty="0"/>
          </a:p>
        </p:txBody>
      </p:sp>
      <p:sp>
        <p:nvSpPr>
          <p:cNvPr id="225" name="Text"/>
          <p:cNvSpPr/>
          <p:nvPr/>
        </p:nvSpPr>
        <p:spPr>
          <a:xfrm>
            <a:off x="688640" y="5305960"/>
            <a:ext cx="3164906" cy="33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Priyansh Nolkha</a:t>
            </a:r>
            <a:endParaRPr lang="en-US" sz="1400" dirty="0"/>
          </a:p>
        </p:txBody>
      </p:sp>
      <p:sp>
        <p:nvSpPr>
          <p:cNvPr id="226" name="Divider"/>
          <p:cNvSpPr/>
          <p:nvPr/>
        </p:nvSpPr>
        <p:spPr>
          <a:xfrm>
            <a:off x="1951093" y="5725960"/>
            <a:ext cx="640000" cy="9525"/>
          </a:xfrm>
          <a:prstGeom prst="rect">
            <a:avLst/>
          </a:prstGeom>
          <a:solidFill>
            <a:srgbClr val="E1E3DC"/>
          </a:solidFill>
          <a:ln/>
        </p:spPr>
      </p:sp>
      <p:sp>
        <p:nvSpPr>
          <p:cNvPr id="227" name="Text"/>
          <p:cNvSpPr/>
          <p:nvPr/>
        </p:nvSpPr>
        <p:spPr>
          <a:xfrm>
            <a:off x="728640" y="5815960"/>
            <a:ext cx="308490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and Power BI Dashboard</a:t>
            </a:r>
            <a:endParaRPr lang="en-US" sz="1000" dirty="0"/>
          </a:p>
        </p:txBody>
      </p:sp>
      <p:sp>
        <p:nvSpPr>
          <p:cNvPr id="228" name="Card"/>
          <p:cNvSpPr/>
          <p:nvPr/>
        </p:nvSpPr>
        <p:spPr>
          <a:xfrm>
            <a:off x="4373546" y="4265960"/>
            <a:ext cx="3444906" cy="2000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229" name="Avatar"/>
          <p:cNvSpPr/>
          <p:nvPr/>
        </p:nvSpPr>
        <p:spPr>
          <a:xfrm>
            <a:off x="5720999" y="4435960"/>
            <a:ext cx="750000" cy="750000"/>
          </a:xfrm>
          <a:prstGeom prst="ellipse">
            <a:avLst/>
          </a:prstGeom>
          <a:solidFill>
            <a:srgbClr val="6E9B4F"/>
          </a:solidFill>
          <a:ln/>
        </p:spPr>
      </p:sp>
      <p:sp>
        <p:nvSpPr>
          <p:cNvPr id="230" name="Text"/>
          <p:cNvSpPr/>
          <p:nvPr/>
        </p:nvSpPr>
        <p:spPr>
          <a:xfrm>
            <a:off x="4373546" y="4435960"/>
            <a:ext cx="3444906" cy="7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</a:t>
            </a:r>
            <a:endParaRPr lang="en-US" sz="1900" dirty="0"/>
          </a:p>
        </p:txBody>
      </p:sp>
      <p:sp>
        <p:nvSpPr>
          <p:cNvPr id="231" name="Text"/>
          <p:cNvSpPr/>
          <p:nvPr/>
        </p:nvSpPr>
        <p:spPr>
          <a:xfrm>
            <a:off x="4513546" y="5305960"/>
            <a:ext cx="3164906" cy="33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Amina Khaatoon</a:t>
            </a:r>
            <a:endParaRPr lang="en-US" sz="1400" dirty="0"/>
          </a:p>
        </p:txBody>
      </p:sp>
      <p:sp>
        <p:nvSpPr>
          <p:cNvPr id="232" name="Divider"/>
          <p:cNvSpPr/>
          <p:nvPr/>
        </p:nvSpPr>
        <p:spPr>
          <a:xfrm>
            <a:off x="5775999" y="5725960"/>
            <a:ext cx="640000" cy="9525"/>
          </a:xfrm>
          <a:prstGeom prst="rect">
            <a:avLst/>
          </a:prstGeom>
          <a:solidFill>
            <a:srgbClr val="E1E3DC"/>
          </a:solidFill>
          <a:ln/>
        </p:spPr>
      </p:sp>
      <p:sp>
        <p:nvSpPr>
          <p:cNvPr id="233" name="Text"/>
          <p:cNvSpPr/>
          <p:nvPr/>
        </p:nvSpPr>
        <p:spPr>
          <a:xfrm>
            <a:off x="4553546" y="5815960"/>
            <a:ext cx="308490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Deployment of the Project</a:t>
            </a:r>
            <a:endParaRPr lang="en-US" sz="1000" dirty="0"/>
          </a:p>
        </p:txBody>
      </p:sp>
      <p:sp>
        <p:nvSpPr>
          <p:cNvPr id="234" name="Card"/>
          <p:cNvSpPr/>
          <p:nvPr/>
        </p:nvSpPr>
        <p:spPr>
          <a:xfrm>
            <a:off x="8198452" y="4265960"/>
            <a:ext cx="3444906" cy="2000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1E3DC"/>
            </a:solidFill>
            <a:prstDash val="solid"/>
          </a:ln>
          <a:effectLst>
            <a:outerShdw sx="100000" sy="100000" kx="0" ky="0" algn="bl" rotWithShape="0" blurRad="76200" dist="25400" dir="5400000">
              <a:srgbClr val="3A4A38">
                <a:alpha val="10000"/>
              </a:srgbClr>
            </a:outerShdw>
          </a:effectLst>
        </p:spPr>
      </p:sp>
      <p:sp>
        <p:nvSpPr>
          <p:cNvPr id="235" name="Avatar"/>
          <p:cNvSpPr/>
          <p:nvPr/>
        </p:nvSpPr>
        <p:spPr>
          <a:xfrm>
            <a:off x="9545905" y="4435960"/>
            <a:ext cx="750000" cy="750000"/>
          </a:xfrm>
          <a:prstGeom prst="ellipse">
            <a:avLst/>
          </a:prstGeom>
          <a:solidFill>
            <a:srgbClr val="D98C3D"/>
          </a:solidFill>
          <a:ln/>
        </p:spPr>
      </p:sp>
      <p:sp>
        <p:nvSpPr>
          <p:cNvPr id="236" name="Text"/>
          <p:cNvSpPr/>
          <p:nvPr/>
        </p:nvSpPr>
        <p:spPr>
          <a:xfrm>
            <a:off x="8198452" y="4435960"/>
            <a:ext cx="3444906" cy="7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MG</a:t>
            </a:r>
            <a:endParaRPr lang="en-US" sz="1900" dirty="0"/>
          </a:p>
        </p:txBody>
      </p:sp>
      <p:sp>
        <p:nvSpPr>
          <p:cNvPr id="237" name="Text"/>
          <p:cNvSpPr/>
          <p:nvPr/>
        </p:nvSpPr>
        <p:spPr>
          <a:xfrm>
            <a:off x="8338452" y="5305960"/>
            <a:ext cx="3164906" cy="33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Maharshi Goswami</a:t>
            </a:r>
            <a:endParaRPr lang="en-US" sz="1400" dirty="0"/>
          </a:p>
        </p:txBody>
      </p:sp>
      <p:sp>
        <p:nvSpPr>
          <p:cNvPr id="238" name="Divider"/>
          <p:cNvSpPr/>
          <p:nvPr/>
        </p:nvSpPr>
        <p:spPr>
          <a:xfrm>
            <a:off x="9600905" y="5725960"/>
            <a:ext cx="640000" cy="9525"/>
          </a:xfrm>
          <a:prstGeom prst="rect">
            <a:avLst/>
          </a:prstGeom>
          <a:solidFill>
            <a:srgbClr val="E1E3DC"/>
          </a:solidFill>
          <a:ln/>
        </p:spPr>
      </p:sp>
      <p:sp>
        <p:nvSpPr>
          <p:cNvPr id="239" name="Text"/>
          <p:cNvSpPr/>
          <p:nvPr/>
        </p:nvSpPr>
        <p:spPr>
          <a:xfrm>
            <a:off x="8378452" y="5815960"/>
            <a:ext cx="3084906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Training and Model Building</a:t>
            </a:r>
            <a:endParaRPr lang="en-US" sz="1000" dirty="0"/>
          </a:p>
        </p:txBody>
      </p:sp>
      <p:sp>
        <p:nvSpPr>
          <p:cNvPr id="240" name="Text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LIBRARY MANAGEMENT  |  GROUP 5 · MCA</a:t>
            </a:r>
            <a:endParaRPr lang="en-US" sz="900" dirty="0"/>
          </a:p>
        </p:txBody>
      </p:sp>
      <p:sp>
        <p:nvSpPr>
          <p:cNvPr id="241" name="Text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2026-08-19T05:43:03Z</dcterms:created>
  <dcterms:modified xsi:type="dcterms:W3CDTF">2026-08-19T05:43:03Z</dcterms:modified>
</cp:coreProperties>
</file>