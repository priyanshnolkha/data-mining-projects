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Science</c:v>
                  </c:pt>
                  <c:pt idx="1">
                    <c:v>Technology</c:v>
                  </c:pt>
                  <c:pt idx="2">
                    <c:v>History</c:v>
                  </c:pt>
                  <c:pt idx="3">
                    <c:v>Non-Fiction</c:v>
                  </c:pt>
                  <c:pt idx="4">
                    <c:v>Business</c:v>
                  </c:pt>
                  <c:pt idx="5">
                    <c:v>Literature</c:v>
                  </c:pt>
                  <c:pt idx="6">
                    <c:v>Fiction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</c:v>
                </c:pt>
                <c:pt idx="1">
                  <c:v>80</c:v>
                </c:pt>
                <c:pt idx="2">
                  <c:v>75</c:v>
                </c:pt>
                <c:pt idx="3">
                  <c:v>75</c:v>
                </c:pt>
                <c:pt idx="4">
                  <c:v>65</c:v>
                </c:pt>
                <c:pt idx="5">
                  <c:v>65</c:v>
                </c:pt>
                <c:pt idx="6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bubble3D val="0"/>
            <c:spPr>
              <a:solidFill>
                <a:srgbClr val="7C4DFF"/>
              </a:solidFill>
              <a:effectLst/>
            </c:spPr>
          </c:dPt>
          <c:dPt>
            <c:idx val="2"/>
            <c:bubble3D val="0"/>
            <c:spPr>
              <a:solidFill>
                <a:srgbClr val="F2994A"/>
              </a:solidFill>
              <a:effectLst/>
            </c:spPr>
          </c:dPt>
          <c:dPt>
            <c:idx val="3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bubble3D val="0"/>
            <c:spPr>
              <a:solidFill>
                <a:srgbClr val="E85D9C"/>
              </a:solidFill>
              <a:effectLst/>
            </c:spPr>
          </c:dPt>
          <c:dPt>
            <c:idx val="5"/>
            <c:bubble3D val="0"/>
            <c:spPr>
              <a:solidFill>
                <a:srgbClr val="9AA5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2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Exam Prep</c:v>
                </c:pt>
                <c:pt idx="1">
                  <c:v>Research</c:v>
                </c:pt>
                <c:pt idx="2">
                  <c:v>Borrow Books</c:v>
                </c:pt>
                <c:pt idx="3">
                  <c:v>Reading</c:v>
                </c:pt>
                <c:pt idx="4">
                  <c:v>Assignment</c:v>
                </c:pt>
                <c:pt idx="5">
                  <c:v>Study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96</c:v>
                </c:pt>
                <c:pt idx="1">
                  <c:v>96</c:v>
                </c:pt>
                <c:pt idx="2">
                  <c:v>83</c:v>
                </c:pt>
                <c:pt idx="3">
                  <c:v>83</c:v>
                </c:pt>
                <c:pt idx="4">
                  <c:v>76</c:v>
                </c:pt>
                <c:pt idx="5">
                  <c:v>66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2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10AM</c:v>
                  </c:pt>
                  <c:pt idx="1">
                    <c:v>9AM</c:v>
                  </c:pt>
                  <c:pt idx="2">
                    <c:v>4PM</c:v>
                  </c:pt>
                  <c:pt idx="3">
                    <c:v>12PM</c:v>
                  </c:pt>
                  <c:pt idx="4">
                    <c:v>3PM</c:v>
                  </c:pt>
                  <c:pt idx="5">
                    <c:v>1PM</c:v>
                  </c:pt>
                  <c:pt idx="6">
                    <c:v>2PM</c:v>
                  </c:pt>
                  <c:pt idx="7">
                    <c:v>11AM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66</c:v>
                </c:pt>
                <c:pt idx="2">
                  <c:v>65</c:v>
                </c:pt>
                <c:pt idx="3">
                  <c:v>63</c:v>
                </c:pt>
                <c:pt idx="4">
                  <c:v>63</c:v>
                </c:pt>
                <c:pt idx="5">
                  <c:v>59</c:v>
                </c:pt>
                <c:pt idx="6">
                  <c:v>59</c:v>
                </c:pt>
                <c:pt idx="7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1-10</c:v>
                  </c:pt>
                  <c:pt idx="1">
                    <c:v>11-20</c:v>
                  </c:pt>
                  <c:pt idx="2">
                    <c:v>21-30</c:v>
                  </c:pt>
                  <c:pt idx="3">
                    <c:v>31-40</c:v>
                  </c:pt>
                  <c:pt idx="4">
                    <c:v>41-50</c:v>
                  </c:pt>
                  <c:pt idx="5">
                    <c:v>51-60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77</c:v>
                </c:pt>
                <c:pt idx="2">
                  <c:v>89</c:v>
                </c:pt>
                <c:pt idx="3">
                  <c:v>94</c:v>
                </c:pt>
                <c:pt idx="4">
                  <c:v>79</c:v>
                </c:pt>
                <c:pt idx="5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Digital Resources</c:v>
                </c:pt>
              </c:strCache>
            </c:strRef>
          </c:tx>
          <c:spPr>
            <a:solidFill>
              <a:srgbClr val="7C4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0-3 books</c:v>
                  </c:pt>
                  <c:pt idx="1">
                    <c:v>4-7 books</c:v>
                  </c:pt>
                  <c:pt idx="2">
                    <c:v>8-11 books</c:v>
                  </c:pt>
                  <c:pt idx="3">
                    <c:v>12-15 books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24.9</c:v>
                </c:pt>
                <c:pt idx="1">
                  <c:v>23.7</c:v>
                </c:pt>
                <c:pt idx="2">
                  <c:v>24.4</c:v>
                </c:pt>
                <c:pt idx="3">
                  <c:v>27.1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1-5</c:v>
                  </c:pt>
                  <c:pt idx="1">
                    <c:v>6-10</c:v>
                  </c:pt>
                  <c:pt idx="2">
                    <c:v>11-15</c:v>
                  </c:pt>
                  <c:pt idx="3">
                    <c:v>16-20</c:v>
                  </c:pt>
                  <c:pt idx="4">
                    <c:v>21-25</c:v>
                  </c:pt>
                  <c:pt idx="5">
                    <c:v>26-30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80</c:v>
                </c:pt>
                <c:pt idx="2">
                  <c:v>67</c:v>
                </c:pt>
                <c:pt idx="3">
                  <c:v>81</c:v>
                </c:pt>
                <c:pt idx="4">
                  <c:v>77</c:v>
                </c:pt>
                <c:pt idx="5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Science</c:v>
                  </c:pt>
                  <c:pt idx="1">
                    <c:v>Technology</c:v>
                  </c:pt>
                  <c:pt idx="2">
                    <c:v>History</c:v>
                  </c:pt>
                  <c:pt idx="3">
                    <c:v>Non-Fiction</c:v>
                  </c:pt>
                  <c:pt idx="4">
                    <c:v>Business</c:v>
                  </c:pt>
                  <c:pt idx="5">
                    <c:v>Literature</c:v>
                  </c:pt>
                  <c:pt idx="6">
                    <c:v>Fiction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</c:v>
                </c:pt>
                <c:pt idx="1">
                  <c:v>80</c:v>
                </c:pt>
                <c:pt idx="2">
                  <c:v>75</c:v>
                </c:pt>
                <c:pt idx="3">
                  <c:v>75</c:v>
                </c:pt>
                <c:pt idx="4">
                  <c:v>65</c:v>
                </c:pt>
                <c:pt idx="5">
                  <c:v>65</c:v>
                </c:pt>
                <c:pt idx="6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10 AM</c:v>
                  </c:pt>
                  <c:pt idx="1">
                    <c:v>9 AM</c:v>
                  </c:pt>
                  <c:pt idx="2">
                    <c:v>4 PM</c:v>
                  </c:pt>
                  <c:pt idx="3">
                    <c:v>12 PM</c:v>
                  </c:pt>
                  <c:pt idx="4">
                    <c:v>3 PM</c:v>
                  </c:pt>
                  <c:pt idx="5">
                    <c:v>1 PM</c:v>
                  </c:pt>
                  <c:pt idx="6">
                    <c:v>2 PM</c:v>
                  </c:pt>
                  <c:pt idx="7">
                    <c:v>11 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66</c:v>
                </c:pt>
                <c:pt idx="2">
                  <c:v>65</c:v>
                </c:pt>
                <c:pt idx="3">
                  <c:v>63</c:v>
                </c:pt>
                <c:pt idx="4">
                  <c:v>63</c:v>
                </c:pt>
                <c:pt idx="5">
                  <c:v>59</c:v>
                </c:pt>
                <c:pt idx="6">
                  <c:v>59</c:v>
                </c:pt>
                <c:pt idx="7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bubble3D val="0"/>
            <c:spPr>
              <a:solidFill>
                <a:srgbClr val="7C4DFF"/>
              </a:solidFill>
              <a:effectLst/>
            </c:spPr>
          </c:dPt>
          <c:dPt>
            <c:idx val="2"/>
            <c:bubble3D val="0"/>
            <c:spPr>
              <a:solidFill>
                <a:srgbClr val="F2994A"/>
              </a:solidFill>
              <a:effectLst/>
            </c:spPr>
          </c:dPt>
          <c:dPt>
            <c:idx val="3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bubble3D val="0"/>
            <c:spPr>
              <a:solidFill>
                <a:srgbClr val="E85D9C"/>
              </a:solidFill>
              <a:effectLst/>
            </c:spPr>
          </c:dPt>
          <c:dPt>
            <c:idx val="5"/>
            <c:bubble3D val="0"/>
            <c:spPr>
              <a:solidFill>
                <a:srgbClr val="9AA5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Exam Preparation</c:v>
                </c:pt>
                <c:pt idx="1">
                  <c:v>Research</c:v>
                </c:pt>
                <c:pt idx="2">
                  <c:v>Borrow Books</c:v>
                </c:pt>
                <c:pt idx="3">
                  <c:v>Reading</c:v>
                </c:pt>
                <c:pt idx="4">
                  <c:v>Assignment</c:v>
                </c:pt>
                <c:pt idx="5">
                  <c:v>Study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96</c:v>
                </c:pt>
                <c:pt idx="1">
                  <c:v>96</c:v>
                </c:pt>
                <c:pt idx="2">
                  <c:v>83</c:v>
                </c:pt>
                <c:pt idx="3">
                  <c:v>83</c:v>
                </c:pt>
                <c:pt idx="4">
                  <c:v>76</c:v>
                </c:pt>
                <c:pt idx="5">
                  <c:v>66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 Frequency / Month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
Visitors</c:v>
                  </c:pt>
                  <c:pt idx="1">
                    <c:v>Deep
Readers</c:v>
                  </c:pt>
                  <c:pt idx="2">
                    <c:v>Digital-Heavy
Users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23.3</c:v>
                </c:pt>
                <c:pt idx="1">
                  <c:v>13</c:v>
                </c:pt>
                <c:pt idx="2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Reading Duration (Hours)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
Visitors</c:v>
                  </c:pt>
                  <c:pt idx="1">
                    <c:v>Deep
Readers</c:v>
                  </c:pt>
                  <c:pt idx="2">
                    <c:v>Digital-Heavy
Users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17.9</c:v>
                </c:pt>
                <c:pt idx="1">
                  <c:v>44</c:v>
                </c:pt>
                <c:pt idx="2">
                  <c:v>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7" Type="http://schemas.openxmlformats.org/officeDocument/2006/relationships/chart" Target="/ppt/charts/chart2.xml"/><Relationship Id="rId8" Type="http://schemas.openxmlformats.org/officeDocument/2006/relationships/chart" Target="/ppt/charts/chart3.xml"/><Relationship Id="rId9" Type="http://schemas.openxmlformats.org/officeDocument/2006/relationships/chart" Target="/ppt/charts/chart4.xml"/><Relationship Id="rId10" Type="http://schemas.openxmlformats.org/officeDocument/2006/relationships/chart" Target="/ppt/charts/chart5.xml"/><Relationship Id="rId11" Type="http://schemas.openxmlformats.org/officeDocument/2006/relationships/chart" Target="/ppt/charts/chart6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12" Type="http://schemas.openxmlformats.org/officeDocument/2006/relationships/image" Target="../media/image-10-6.png"/><Relationship Id="rId13" Type="http://schemas.openxmlformats.org/officeDocument/2006/relationships/image" Target="../media/image-10-5.png"/><Relationship Id="rId14" Type="http://schemas.openxmlformats.org/officeDocument/2006/relationships/image" Target="../media/image-10-2.png"/><Relationship Id="rId15" Type="http://schemas.openxmlformats.org/officeDocument/2006/relationships/image" Target="../media/image-10-9.png"/><Relationship Id="rId16" Type="http://schemas.openxmlformats.org/officeDocument/2006/relationships/image" Target="../media/image-10-10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7.xml"/><Relationship Id="rId6" Type="http://schemas.openxmlformats.org/officeDocument/2006/relationships/chart" Target="/ppt/charts/chart8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815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08153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868680" cy="86868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5" name="Image 0" descr="icons_book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693" y="97269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MCA  ·  BIG DATA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LIBRARY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 Analytics &amp; Data-Driven Insights using Apriori, K-Means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and Personalized Recommendations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257800"/>
            <a:ext cx="3291840" cy="0"/>
          </a:xfrm>
          <a:prstGeom prst="line">
            <a:avLst/>
          </a:prstGeom>
          <a:noFill/>
          <a:ln w="12700">
            <a:solidFill>
              <a:srgbClr val="3E57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Library_Management_Dataset.xlsx   ·   500 Students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9384"/>
            <a:ext cx="621792" cy="62179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book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38" y="2078614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08760" y="203911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7408" y="1929384"/>
            <a:ext cx="621792" cy="621792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1" name="Image 1" descr="icons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638" y="2078614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7408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66360" y="203911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863840" y="160020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65008" y="1929384"/>
            <a:ext cx="621792" cy="62179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icons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238" y="2078614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65008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823960" y="203911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83864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s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38" y="3633094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508760" y="35935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06240" y="315468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07408" y="3483864"/>
            <a:ext cx="621792" cy="621792"/>
          </a:xfrm>
          <a:prstGeom prst="ellipse">
            <a:avLst/>
          </a:prstGeom>
          <a:solidFill>
            <a:srgbClr val="E85D9C"/>
          </a:solidFill>
          <a:ln/>
        </p:spPr>
      </p:sp>
      <p:pic>
        <p:nvPicPr>
          <p:cNvPr id="26" name="Image 4" descr="icons_proj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638" y="3633094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07408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66360" y="35935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7863840" y="315468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65008" y="3483864"/>
            <a:ext cx="621792" cy="62179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1" name="Image 5" descr="icons_pyth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238" y="3633094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65008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823960" y="359359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548640" y="470916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038344"/>
            <a:ext cx="621792" cy="621792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36" name="Image 6" descr="icons_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38" y="5187574"/>
            <a:ext cx="323332" cy="3233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508760" y="514807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4206240" y="470916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07408" y="5038344"/>
            <a:ext cx="621792" cy="62179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41" name="Image 7" descr="icons_chartb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638" y="5187574"/>
            <a:ext cx="323332" cy="3233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407408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166360" y="514807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44" name="Shape 34"/>
          <p:cNvSpPr/>
          <p:nvPr/>
        </p:nvSpPr>
        <p:spPr>
          <a:xfrm>
            <a:off x="7863840" y="470916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065008" y="5038344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6" name="Image 8" descr="icons_rock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4238" y="5187574"/>
            <a:ext cx="323332" cy="3233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065008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823960" y="514807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49" name="Text 3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5623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academic libraries generate rich behavioural data — book borrowing, digital-resource access, visit frequency, and reading duration — that is rarely analysed beyond basic circulation counts.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data mining techniques to a 500-student library usage dataset to uncover usage patterns, segment students by behaviour, and generate actionable, data-driven recommendations for library management.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combines association rule mining (Apriori), unsupervised clustering (K-Means), and a lightweight recommendation engine into a single analytics-driven workflow, visualised through an interactive dashboard.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553712" cy="4480560"/>
          </a:xfrm>
          <a:prstGeom prst="roundRect">
            <a:avLst>
              <a:gd name="adj" fmla="val 1633"/>
            </a:avLst>
          </a:prstGeom>
          <a:solidFill>
            <a:srgbClr val="0B1F4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Study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06640" y="2514600"/>
            <a:ext cx="457200" cy="457200"/>
          </a:xfrm>
          <a:prstGeom prst="ellipse">
            <a:avLst/>
          </a:prstGeom>
          <a:solidFill>
            <a:srgbClr val="1A3576"/>
          </a:solidFill>
          <a:ln/>
        </p:spPr>
      </p:sp>
      <p:pic>
        <p:nvPicPr>
          <p:cNvPr id="10" name="Image 0" descr="icons_user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62890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28432" y="24963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unique students across the library system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06640" y="3410712"/>
            <a:ext cx="457200" cy="457200"/>
          </a:xfrm>
          <a:prstGeom prst="ellipse">
            <a:avLst/>
          </a:prstGeom>
          <a:solidFill>
            <a:srgbClr val="1A3576"/>
          </a:solidFill>
          <a:ln/>
        </p:spPr>
      </p:sp>
      <p:pic>
        <p:nvPicPr>
          <p:cNvPr id="13" name="Image 1" descr="icons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0" y="352501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28432" y="33924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preference, borrowing &amp; digital-resource usage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06640" y="4306824"/>
            <a:ext cx="457200" cy="457200"/>
          </a:xfrm>
          <a:prstGeom prst="ellipse">
            <a:avLst/>
          </a:prstGeom>
          <a:solidFill>
            <a:srgbClr val="1A3576"/>
          </a:solidFill>
          <a:ln/>
        </p:spPr>
      </p:sp>
      <p:pic>
        <p:nvPicPr>
          <p:cNvPr id="16" name="Image 2" descr="icons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0" y="442112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28432" y="42885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hours, visit frequency &amp; reading duration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406640" y="5202936"/>
            <a:ext cx="457200" cy="457200"/>
          </a:xfrm>
          <a:prstGeom prst="ellipse">
            <a:avLst/>
          </a:prstGeom>
          <a:solidFill>
            <a:srgbClr val="1A3576"/>
          </a:solidFill>
          <a:ln/>
        </p:spPr>
      </p:sp>
      <p:pic>
        <p:nvPicPr>
          <p:cNvPr id="19" name="Image 3" descr="icons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531723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28432" y="5184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segmentation via K-Means clustering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Problem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852928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7157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 data is collected but rarely analysed beyond raw counts.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630168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930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genres, hours, or services drive real demand.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2702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purchasing and staffing decisions are made without data support.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184648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04748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no personalized reading or resource suggestions.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8" name="Image 1" descr="icons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4" y="209763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83680" y="285292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27157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overall library usage: borrowing, digital access, reading time.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63016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4930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association rules linking genre, visit reason, and peak hours.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40740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2702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students into behavioural clusters using K-Means.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518464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50474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genre-based recommendations and purchase priorities.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48840"/>
            <a:ext cx="2542032" cy="109728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21992" y="2404872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8" name="Image 0" descr="icons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055" y="25409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089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3630168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500-record Excel dataset of student library activity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72384" y="3566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46704" y="21488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46704" y="2148840"/>
            <a:ext cx="2542032" cy="109728"/>
          </a:xfrm>
          <a:prstGeom prst="roundRect">
            <a:avLst/>
          </a:prstGeom>
          <a:solidFill>
            <a:srgbClr val="7C4DFF"/>
          </a:solidFill>
          <a:ln/>
        </p:spPr>
      </p:sp>
      <p:sp>
        <p:nvSpPr>
          <p:cNvPr id="14" name="Text 11"/>
          <p:cNvSpPr/>
          <p:nvPr/>
        </p:nvSpPr>
        <p:spPr>
          <a:xfrm>
            <a:off x="3575304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020056" y="2404872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6" name="Image 1" descr="icons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119" y="2540935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75304" y="31089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575304" y="3630168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 conversion &amp; feature selection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870448" y="3566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144768" y="21488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44768" y="2148840"/>
            <a:ext cx="2542032" cy="109728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22" name="Text 18"/>
          <p:cNvSpPr/>
          <p:nvPr/>
        </p:nvSpPr>
        <p:spPr>
          <a:xfrm>
            <a:off x="637336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19"/>
          <p:cNvSpPr/>
          <p:nvPr/>
        </p:nvSpPr>
        <p:spPr>
          <a:xfrm>
            <a:off x="7818120" y="2404872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4" name="Image 2" descr="icons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183" y="2540935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73368" y="31089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73368" y="3630168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rules, K-Means clustering, recommender logic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668512" y="35661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942832" y="21488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942832" y="2148840"/>
            <a:ext cx="2542032" cy="10972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0" name="Text 25"/>
          <p:cNvSpPr/>
          <p:nvPr/>
        </p:nvSpPr>
        <p:spPr>
          <a:xfrm>
            <a:off x="9171432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Shape 26"/>
          <p:cNvSpPr/>
          <p:nvPr/>
        </p:nvSpPr>
        <p:spPr>
          <a:xfrm>
            <a:off x="10616184" y="240487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3" descr="icons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247" y="2540935"/>
            <a:ext cx="294803" cy="29480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71432" y="31089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9171432" y="3630168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score, rule confidence &amp; lift, visual QA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1F4D"/>
          </a:solidFill>
          <a:ln/>
        </p:spPr>
      </p:sp>
      <p:sp>
        <p:nvSpPr>
          <p:cNvPr id="36" name="Text 30"/>
          <p:cNvSpPr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Apriori (association rule mining) · K-Means clustering · Rule-based recommendation system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→ Processing → Model →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2F6FE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788920"/>
            <a:ext cx="731520" cy="7315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765" y="29644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4041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Library_Management_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Dataset.xlsx (500 rows)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34290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657600" y="24688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7C4D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788920"/>
            <a:ext cx="731520" cy="73152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2" name="Image 1" descr="icons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25" y="29644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49040" y="4041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80760" y="34290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537960" y="24688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F2994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60920" y="2788920"/>
            <a:ext cx="731520" cy="7315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8" name="Image 2" descr="icons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85" y="296448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629400" y="4041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· K-Means ·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961120" y="34290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418320" y="24688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41280" y="27889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icons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6845" y="296448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509760" y="4041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raw records are cleaned and transformed, mined for patterns and clusters, then surfaced through a dashboard that drives library decisions.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Literature → Development →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3383280"/>
            <a:ext cx="8686800" cy="0"/>
          </a:xfrm>
          <a:prstGeom prst="line">
            <a:avLst/>
          </a:prstGeom>
          <a:noFill/>
          <a:ln w="31750">
            <a:solidFill>
              <a:srgbClr val="C6CE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926080"/>
            <a:ext cx="914400" cy="91440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154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27632" y="2816352"/>
            <a:ext cx="310896" cy="310896"/>
          </a:xfrm>
          <a:prstGeom prst="ellipse">
            <a:avLst/>
          </a:prstGeom>
          <a:solidFill>
            <a:srgbClr val="0B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6140" y="2926080"/>
            <a:ext cx="914400" cy="9144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0" name="Image 1" descr="icons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3154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0322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027932" y="2816352"/>
            <a:ext cx="310896" cy="310896"/>
          </a:xfrm>
          <a:prstGeom prst="ellipse">
            <a:avLst/>
          </a:prstGeom>
          <a:solidFill>
            <a:srgbClr val="0B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06440" y="292608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4" name="Image 2" descr="icons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546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28232" y="2816352"/>
            <a:ext cx="310896" cy="310896"/>
          </a:xfrm>
          <a:prstGeom prst="ellipse">
            <a:avLst/>
          </a:prstGeom>
          <a:solidFill>
            <a:srgbClr val="0B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206740" y="2926080"/>
            <a:ext cx="914400" cy="914400"/>
          </a:xfrm>
          <a:prstGeom prst="ellipse">
            <a:avLst/>
          </a:prstGeom>
          <a:solidFill>
            <a:srgbClr val="E85D9C"/>
          </a:solidFill>
          <a:ln/>
        </p:spPr>
      </p:sp>
      <p:pic>
        <p:nvPicPr>
          <p:cNvPr id="18" name="Image 3" descr="icons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340" y="3154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0382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28532" y="2816352"/>
            <a:ext cx="310896" cy="310896"/>
          </a:xfrm>
          <a:prstGeom prst="ellipse">
            <a:avLst/>
          </a:prstGeom>
          <a:solidFill>
            <a:srgbClr val="0B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0607040" y="29260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icons_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31546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10412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1228832" y="2816352"/>
            <a:ext cx="310896" cy="310896"/>
          </a:xfrm>
          <a:prstGeom prst="ellipse">
            <a:avLst/>
          </a:prstGeom>
          <a:solidFill>
            <a:srgbClr val="0B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7091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77240" y="4892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analytics problem and success criteria for the library.</a:t>
            </a:r>
            <a:endParaRPr lang="en-US" sz="1020" dirty="0"/>
          </a:p>
        </p:txBody>
      </p:sp>
      <p:sp>
        <p:nvSpPr>
          <p:cNvPr id="27" name="Text 20"/>
          <p:cNvSpPr/>
          <p:nvPr/>
        </p:nvSpPr>
        <p:spPr>
          <a:xfrm>
            <a:off x="2628900" y="4892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data-mining approaches: association rules &amp; clustering.</a:t>
            </a:r>
            <a:endParaRPr lang="en-US" sz="1020" dirty="0"/>
          </a:p>
        </p:txBody>
      </p:sp>
      <p:sp>
        <p:nvSpPr>
          <p:cNvPr id="28" name="Text 21"/>
          <p:cNvSpPr/>
          <p:nvPr/>
        </p:nvSpPr>
        <p:spPr>
          <a:xfrm>
            <a:off x="5029200" y="4892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cleaning, modeling &amp; dashboard pipeline in Python.</a:t>
            </a:r>
            <a:endParaRPr lang="en-US" sz="1020" dirty="0"/>
          </a:p>
        </p:txBody>
      </p:sp>
      <p:sp>
        <p:nvSpPr>
          <p:cNvPr id="29" name="Text 22"/>
          <p:cNvSpPr/>
          <p:nvPr/>
        </p:nvSpPr>
        <p:spPr>
          <a:xfrm>
            <a:off x="7429500" y="4892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cluster quality and rule confidence against the data.</a:t>
            </a:r>
            <a:endParaRPr lang="en-US" sz="1020" dirty="0"/>
          </a:p>
        </p:txBody>
      </p:sp>
      <p:sp>
        <p:nvSpPr>
          <p:cNvPr id="30" name="Text 23"/>
          <p:cNvSpPr/>
          <p:nvPr/>
        </p:nvSpPr>
        <p:spPr>
          <a:xfrm>
            <a:off x="9829800" y="4892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findings into actionable library recommendations.</a:t>
            </a:r>
            <a:endParaRPr lang="en-US" sz="1020" dirty="0"/>
          </a:p>
        </p:txBody>
      </p:sp>
      <p:sp>
        <p:nvSpPr>
          <p:cNvPr id="31" name="Text 2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2945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697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analysis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993392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1" name="Image 1" descr="icons_book_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07" y="212945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81144" y="2697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environment for exploration &amp; modeling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993392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icons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212945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7616" y="2697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aggregation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2394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s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4260007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82803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&amp; cluster visualizations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86791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123944"/>
            <a:ext cx="566928" cy="566928"/>
          </a:xfrm>
          <a:prstGeom prst="ellipse">
            <a:avLst/>
          </a:prstGeom>
          <a:solidFill>
            <a:srgbClr val="E85D9C"/>
          </a:solidFill>
          <a:ln/>
        </p:spPr>
      </p:sp>
      <p:pic>
        <p:nvPicPr>
          <p:cNvPr id="26" name="Image 4" descr="icons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207" y="426000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81144" y="482803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K-Means, silhouette scoring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86791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123944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1" name="Image 5" descr="icons_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679" y="426000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7616" y="482803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frequent itemsets &amp; association rules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Algorithms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9535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students (Registration_No unique)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867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Frequency, Books Borrowed, Digital Resources Accessed, Reading Duration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526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7823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Genre, Peak Library Hour, Reason for Visit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440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56967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Library_Management_Dataset.xlsx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8" name="Image 1" descr="icons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086661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993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Applied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83680" y="2697480"/>
            <a:ext cx="54864" cy="868680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21" name="Text 17"/>
          <p:cNvSpPr/>
          <p:nvPr/>
        </p:nvSpPr>
        <p:spPr>
          <a:xfrm>
            <a:off x="6766560" y="2697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766560" y="29900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across Preferred Genre × Reason for Visit × Peak Hour (min support 0.05, confidence 0.30)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583680" y="3776472"/>
            <a:ext cx="54864" cy="868680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37764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766560" y="40690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students on Visit Frequency, Books Borrowed, Digital Resources, Reading Duration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83680" y="4855464"/>
            <a:ext cx="54864" cy="868680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48554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766560" y="51480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genre matching to suggest books &amp; digital resources per student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46304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" name="Image 0" descr="icons_book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599" y="273863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8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LIBRARY MANAGEMENT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 Analytics &amp; Data-Driven Insights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961120" y="274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MCA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" y="9418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1060704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0" name="Image 1" descr="icons_userfri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" y="119329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987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05840" y="1325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870" dirty="0"/>
          </a:p>
        </p:txBody>
      </p:sp>
      <p:sp>
        <p:nvSpPr>
          <p:cNvPr id="13" name="Text 9"/>
          <p:cNvSpPr/>
          <p:nvPr/>
        </p:nvSpPr>
        <p:spPr>
          <a:xfrm>
            <a:off x="1005840" y="15179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163824" y="9418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91840" y="106070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icons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11932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987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3,811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3913632" y="1325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 Borrowed</a:t>
            </a:r>
            <a:endParaRPr lang="en-US" sz="870" dirty="0"/>
          </a:p>
        </p:txBody>
      </p:sp>
      <p:sp>
        <p:nvSpPr>
          <p:cNvPr id="19" name="Text 14"/>
          <p:cNvSpPr/>
          <p:nvPr/>
        </p:nvSpPr>
        <p:spPr>
          <a:xfrm>
            <a:off x="3913632" y="15179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Books_Borrowed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071616" y="9418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99632" y="1060704"/>
            <a:ext cx="530352" cy="530352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22" name="Image 3" descr="icons_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1193292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21424" y="987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12,518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821424" y="1325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Accessed</a:t>
            </a:r>
            <a:endParaRPr lang="en-US" sz="870" dirty="0"/>
          </a:p>
        </p:txBody>
      </p:sp>
      <p:sp>
        <p:nvSpPr>
          <p:cNvPr id="25" name="Text 19"/>
          <p:cNvSpPr/>
          <p:nvPr/>
        </p:nvSpPr>
        <p:spPr>
          <a:xfrm>
            <a:off x="6821424" y="15179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Digital_Resources_Accessed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8979408" y="9418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107424" y="1060704"/>
            <a:ext cx="530352" cy="53035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8" name="Image 4" descr="icons_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2" y="1193292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29216" y="987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9729216" y="1325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Reading Duration (Hours)</a:t>
            </a:r>
            <a:endParaRPr lang="en-US" sz="870" dirty="0"/>
          </a:p>
        </p:txBody>
      </p:sp>
      <p:sp>
        <p:nvSpPr>
          <p:cNvPr id="31" name="Text 24"/>
          <p:cNvSpPr/>
          <p:nvPr/>
        </p:nvSpPr>
        <p:spPr>
          <a:xfrm>
            <a:off x="9729216" y="15179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Reading_Duration_Hours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256032" y="184708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393192" y="191109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 by Registration No.</a:t>
            </a:r>
            <a:endParaRPr lang="en-US" sz="9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01752" y="2139696"/>
          <a:ext cx="38587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5" name="Shape 27"/>
          <p:cNvSpPr/>
          <p:nvPr/>
        </p:nvSpPr>
        <p:spPr>
          <a:xfrm>
            <a:off x="4334256" y="184708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4471416" y="191109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Registrations by Reason_For_Visit</a:t>
            </a:r>
            <a:endParaRPr lang="en-US" sz="950" dirty="0"/>
          </a:p>
        </p:txBody>
      </p:sp>
      <p:graphicFrame>
        <p:nvGraphicFramePr>
          <p:cNvPr id="37" name="Chart 1" descr=""/>
          <p:cNvGraphicFramePr/>
          <p:nvPr/>
        </p:nvGraphicFramePr>
        <p:xfrm>
          <a:off x="4379976" y="2121408"/>
          <a:ext cx="3858768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8" name="Shape 29"/>
          <p:cNvSpPr/>
          <p:nvPr/>
        </p:nvSpPr>
        <p:spPr>
          <a:xfrm>
            <a:off x="8412480" y="184708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8549640" y="191109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Registrations by Peak_Library_Hour</a:t>
            </a:r>
            <a:endParaRPr lang="en-US" sz="950" dirty="0"/>
          </a:p>
        </p:txBody>
      </p:sp>
      <p:graphicFrame>
        <p:nvGraphicFramePr>
          <p:cNvPr id="40" name="Chart 2" descr=""/>
          <p:cNvGraphicFramePr/>
          <p:nvPr/>
        </p:nvGraphicFramePr>
        <p:xfrm>
          <a:off x="8458200" y="2139696"/>
          <a:ext cx="38587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1" name="Shape 31"/>
          <p:cNvSpPr/>
          <p:nvPr/>
        </p:nvSpPr>
        <p:spPr>
          <a:xfrm>
            <a:off x="256032" y="376732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2" name="Text 32"/>
          <p:cNvSpPr/>
          <p:nvPr/>
        </p:nvSpPr>
        <p:spPr>
          <a:xfrm>
            <a:off x="393192" y="38313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Reading_Duration_Hours (Bins)</a:t>
            </a:r>
            <a:endParaRPr lang="en-US" sz="950" dirty="0"/>
          </a:p>
        </p:txBody>
      </p:sp>
      <p:graphicFrame>
        <p:nvGraphicFramePr>
          <p:cNvPr id="43" name="Chart 3" descr=""/>
          <p:cNvGraphicFramePr/>
          <p:nvPr/>
        </p:nvGraphicFramePr>
        <p:xfrm>
          <a:off x="301752" y="4059936"/>
          <a:ext cx="38587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4" name="Shape 33"/>
          <p:cNvSpPr/>
          <p:nvPr/>
        </p:nvSpPr>
        <p:spPr>
          <a:xfrm>
            <a:off x="4334256" y="376732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4471416" y="38313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Digital_Resources_Accessed by Books_Borrowed</a:t>
            </a:r>
            <a:endParaRPr lang="en-US" sz="870" dirty="0"/>
          </a:p>
        </p:txBody>
      </p:sp>
      <p:graphicFrame>
        <p:nvGraphicFramePr>
          <p:cNvPr id="46" name="Chart 4" descr=""/>
          <p:cNvGraphicFramePr/>
          <p:nvPr/>
        </p:nvGraphicFramePr>
        <p:xfrm>
          <a:off x="4379976" y="4059936"/>
          <a:ext cx="38587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7" name="Shape 35"/>
          <p:cNvSpPr/>
          <p:nvPr/>
        </p:nvSpPr>
        <p:spPr>
          <a:xfrm>
            <a:off x="8412480" y="3767328"/>
            <a:ext cx="3950208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8" name="Text 36"/>
          <p:cNvSpPr/>
          <p:nvPr/>
        </p:nvSpPr>
        <p:spPr>
          <a:xfrm>
            <a:off x="8549640" y="38313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Visit_Frequency_Per_Month (Bins)</a:t>
            </a:r>
            <a:endParaRPr lang="en-US" sz="900" dirty="0"/>
          </a:p>
        </p:txBody>
      </p:sp>
      <p:graphicFrame>
        <p:nvGraphicFramePr>
          <p:cNvPr id="49" name="Chart 5" descr=""/>
          <p:cNvGraphicFramePr/>
          <p:nvPr/>
        </p:nvGraphicFramePr>
        <p:xfrm>
          <a:off x="8458200" y="4059936"/>
          <a:ext cx="38587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0" name="Shape 37"/>
          <p:cNvSpPr/>
          <p:nvPr/>
        </p:nvSpPr>
        <p:spPr>
          <a:xfrm>
            <a:off x="256032" y="5687568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8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347472" y="580644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52" name="Image 5" descr="icons_bookmar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" y="5902452"/>
            <a:ext cx="192024" cy="192024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86384" y="5742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GENRE</a:t>
            </a:r>
            <a:endParaRPr lang="en-US" sz="730" dirty="0"/>
          </a:p>
        </p:txBody>
      </p:sp>
      <p:sp>
        <p:nvSpPr>
          <p:cNvPr id="54" name="Text 40"/>
          <p:cNvSpPr/>
          <p:nvPr/>
        </p:nvSpPr>
        <p:spPr>
          <a:xfrm>
            <a:off x="786384" y="59161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leads preference among students (82 of 500).</a:t>
            </a:r>
            <a:endParaRPr lang="en-US" sz="730" dirty="0"/>
          </a:p>
        </p:txBody>
      </p:sp>
      <p:sp>
        <p:nvSpPr>
          <p:cNvPr id="55" name="Shape 41"/>
          <p:cNvSpPr/>
          <p:nvPr/>
        </p:nvSpPr>
        <p:spPr>
          <a:xfrm>
            <a:off x="2670048" y="5687568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8000"/>
              </a:srgbClr>
            </a:outerShdw>
          </a:effectLst>
        </p:spPr>
      </p:sp>
      <p:sp>
        <p:nvSpPr>
          <p:cNvPr id="56" name="Shape 42"/>
          <p:cNvSpPr/>
          <p:nvPr/>
        </p:nvSpPr>
        <p:spPr>
          <a:xfrm>
            <a:off x="2761488" y="5806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7" name="Image 6" descr="icons_cl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5902452"/>
            <a:ext cx="192024" cy="192024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3200400" y="5742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</a:t>
            </a:r>
            <a:endParaRPr lang="en-US" sz="730" dirty="0"/>
          </a:p>
        </p:txBody>
      </p:sp>
      <p:sp>
        <p:nvSpPr>
          <p:cNvPr id="59" name="Text 44"/>
          <p:cNvSpPr/>
          <p:nvPr/>
        </p:nvSpPr>
        <p:spPr>
          <a:xfrm>
            <a:off x="3200400" y="59161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traffic is highest between 9 AM – 12 PM.</a:t>
            </a:r>
            <a:endParaRPr lang="en-US" sz="730" dirty="0"/>
          </a:p>
        </p:txBody>
      </p:sp>
      <p:sp>
        <p:nvSpPr>
          <p:cNvPr id="60" name="Shape 45"/>
          <p:cNvSpPr/>
          <p:nvPr/>
        </p:nvSpPr>
        <p:spPr>
          <a:xfrm>
            <a:off x="5084064" y="5687568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8000"/>
              </a:srgbClr>
            </a:outerShdw>
          </a:effectLst>
        </p:spPr>
      </p:sp>
      <p:sp>
        <p:nvSpPr>
          <p:cNvPr id="61" name="Shape 46"/>
          <p:cNvSpPr/>
          <p:nvPr/>
        </p:nvSpPr>
        <p:spPr>
          <a:xfrm>
            <a:off x="5175504" y="5806440"/>
            <a:ext cx="384048" cy="384048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62" name="Image 7" descr="icons_userfriend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1516" y="5902452"/>
            <a:ext cx="192024" cy="192024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614416" y="5742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PURPOSE</a:t>
            </a:r>
            <a:endParaRPr lang="en-US" sz="730" dirty="0"/>
          </a:p>
        </p:txBody>
      </p:sp>
      <p:sp>
        <p:nvSpPr>
          <p:cNvPr id="64" name="Text 48"/>
          <p:cNvSpPr/>
          <p:nvPr/>
        </p:nvSpPr>
        <p:spPr>
          <a:xfrm>
            <a:off x="5614416" y="59161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&amp; Research drive most visits.</a:t>
            </a:r>
            <a:endParaRPr lang="en-US" sz="730" dirty="0"/>
          </a:p>
        </p:txBody>
      </p:sp>
      <p:sp>
        <p:nvSpPr>
          <p:cNvPr id="65" name="Shape 49"/>
          <p:cNvSpPr/>
          <p:nvPr/>
        </p:nvSpPr>
        <p:spPr>
          <a:xfrm>
            <a:off x="7498080" y="5687568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8000"/>
              </a:srgbClr>
            </a:outerShdw>
          </a:effectLst>
        </p:spPr>
      </p:sp>
      <p:sp>
        <p:nvSpPr>
          <p:cNvPr id="66" name="Shape 50"/>
          <p:cNvSpPr/>
          <p:nvPr/>
        </p:nvSpPr>
        <p:spPr>
          <a:xfrm>
            <a:off x="7589520" y="580644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7" name="Image 8" descr="icons_layer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5532" y="5902452"/>
            <a:ext cx="192024" cy="192024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8028432" y="5742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</a:t>
            </a:r>
            <a:endParaRPr lang="en-US" sz="730" dirty="0"/>
          </a:p>
        </p:txBody>
      </p:sp>
      <p:sp>
        <p:nvSpPr>
          <p:cNvPr id="69" name="Text 52"/>
          <p:cNvSpPr/>
          <p:nvPr/>
        </p:nvSpPr>
        <p:spPr>
          <a:xfrm>
            <a:off x="8028432" y="59161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stays consistent (~24-27) across borrowing levels.</a:t>
            </a:r>
            <a:endParaRPr lang="en-US" sz="730" dirty="0"/>
          </a:p>
        </p:txBody>
      </p:sp>
      <p:sp>
        <p:nvSpPr>
          <p:cNvPr id="70" name="Shape 53"/>
          <p:cNvSpPr/>
          <p:nvPr/>
        </p:nvSpPr>
        <p:spPr>
          <a:xfrm>
            <a:off x="9912096" y="5687568"/>
            <a:ext cx="230428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8000"/>
              </a:srgbClr>
            </a:outerShdw>
          </a:effectLst>
        </p:spPr>
      </p:sp>
      <p:sp>
        <p:nvSpPr>
          <p:cNvPr id="71" name="Shape 54"/>
          <p:cNvSpPr/>
          <p:nvPr/>
        </p:nvSpPr>
        <p:spPr>
          <a:xfrm>
            <a:off x="10003536" y="5806440"/>
            <a:ext cx="384048" cy="384048"/>
          </a:xfrm>
          <a:prstGeom prst="ellipse">
            <a:avLst/>
          </a:prstGeom>
          <a:solidFill>
            <a:srgbClr val="E85D9C"/>
          </a:solidFill>
          <a:ln/>
        </p:spPr>
      </p:sp>
      <p:pic>
        <p:nvPicPr>
          <p:cNvPr id="72" name="Image 9" descr="icons_lightbul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9548" y="5902452"/>
            <a:ext cx="192024" cy="192024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10442448" y="57424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85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30" dirty="0"/>
          </a:p>
        </p:txBody>
      </p:sp>
      <p:sp>
        <p:nvSpPr>
          <p:cNvPr id="74" name="Text 56"/>
          <p:cNvSpPr/>
          <p:nvPr/>
        </p:nvSpPr>
        <p:spPr>
          <a:xfrm>
            <a:off x="10442448" y="59161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seating &amp; staff during 9 AM–12 PM peak hours.</a:t>
            </a:r>
            <a:endParaRPr lang="en-US" sz="730" dirty="0"/>
          </a:p>
        </p:txBody>
      </p:sp>
      <p:sp>
        <p:nvSpPr>
          <p:cNvPr id="75" name="Shap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76" name="Text 5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Dashboard  |  Empowering Libraries with Data Insights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Usage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621792" cy="62179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_user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842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44752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62763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2880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84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3,811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29768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Borrowed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2763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9088" y="1828800"/>
            <a:ext cx="621792" cy="621792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6" name="Image 2" descr="icons_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9842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0608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12,518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150608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Accessed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162763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72016" y="1828800"/>
            <a:ext cx="621792" cy="62179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1" name="Image 3" descr="icons_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198424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03536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 hrs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10003536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Reading Duration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 — Demand by Students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20040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/>
          <p:nvPr/>
        </p:nvSpPr>
        <p:spPr>
          <a:xfrm>
            <a:off x="630936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Registrations by Peak Library Hour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309360" y="3200400"/>
          <a:ext cx="53309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Text 2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Purpose &amp; Association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Visit — Share of Students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212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600200"/>
            <a:ext cx="551383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8" name="Image 0" descr="icons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20002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901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— Association Insights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46520" y="2660904"/>
            <a:ext cx="82296" cy="822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7"/>
          <p:cNvSpPr/>
          <p:nvPr/>
        </p:nvSpPr>
        <p:spPr>
          <a:xfrm>
            <a:off x="6656832" y="2514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and Research together account for 192 of 500 visits (~38%) — the two largest visit purposes.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3529584"/>
            <a:ext cx="82296" cy="822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3" name="Text 9"/>
          <p:cNvSpPr/>
          <p:nvPr/>
        </p:nvSpPr>
        <p:spPr>
          <a:xfrm>
            <a:off x="6656832" y="33832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Books and Reading are near-equal in demand, showing balanced use of physical and quiet-reading services.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4398264"/>
            <a:ext cx="82296" cy="822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5" name="Text 11"/>
          <p:cNvSpPr/>
          <p:nvPr/>
        </p:nvSpPr>
        <p:spPr>
          <a:xfrm>
            <a:off x="6656832" y="4251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and Technology are the two most preferred genres, together representing 32% of all preferences.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46520" y="5266944"/>
            <a:ext cx="82296" cy="822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7" name="Text 13"/>
          <p:cNvSpPr/>
          <p:nvPr/>
        </p:nvSpPr>
        <p:spPr>
          <a:xfrm>
            <a:off x="6656832" y="51206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purpose is fairly evenly distributed across peak hours, with no single hour dominating library traffic.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Student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Averages — Visit Frequency vs. Reading Duration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600200"/>
            <a:ext cx="4187952" cy="448056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0.187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99248" y="2542032"/>
            <a:ext cx="54864" cy="777240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496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Visitors</a:t>
            </a:r>
            <a:pPr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146 students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0" y="27797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visit frequency (23.3/mo), lighter reading sessions (17.9 hrs).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699248" y="3474720"/>
            <a:ext cx="54864" cy="7772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Readers</a:t>
            </a:r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166 students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0" y="37124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reading duration (44.0 hrs) with fewer, focused visits.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699248" y="4407408"/>
            <a:ext cx="54864" cy="777240"/>
          </a:xfrm>
          <a:prstGeom prst="roundRect">
            <a:avLst/>
          </a:prstGeom>
          <a:solidFill>
            <a:srgbClr val="F2994A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4361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Digital-Heavy Users</a:t>
            </a:r>
            <a:pPr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188 students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63840" y="464515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digital-resource access (40.6) alongside strong reading time.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08153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194560"/>
            <a:ext cx="5029200" cy="5029200"/>
          </a:xfrm>
          <a:prstGeom prst="ellipse">
            <a:avLst/>
          </a:prstGeom>
          <a:solidFill>
            <a:srgbClr val="0815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B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Enhancements &amp; Extensions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8" name="Image 0" descr="icons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218468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Department field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0449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department-wise utilization analysis — not fabricated in the current dataset.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12" name="Shape 9"/>
          <p:cNvSpPr/>
          <p:nvPr/>
        </p:nvSpPr>
        <p:spPr>
          <a:xfrm>
            <a:off x="4553712" y="205740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icons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96" y="218468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3712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53712" y="30449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pipeline to live circulation data for continuously updated insights.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01584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17" name="Shape 13"/>
          <p:cNvSpPr/>
          <p:nvPr/>
        </p:nvSpPr>
        <p:spPr>
          <a:xfrm>
            <a:off x="8330184" y="2057400"/>
            <a:ext cx="530352" cy="530352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8" name="Image 2" descr="icons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68" y="218468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recommender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0184" y="30449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rule-based suggestions to a collaborative-filtering or embedding model.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8679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3" name="Image 3" descr="icons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24" y="4223796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forecasting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77240" y="50840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seasonal book demand and peak-hour footfall using time-series models.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325112" y="38679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27" name="Shape 21"/>
          <p:cNvSpPr/>
          <p:nvPr/>
        </p:nvSpPr>
        <p:spPr>
          <a:xfrm>
            <a:off x="4553712" y="4096512"/>
            <a:ext cx="530352" cy="530352"/>
          </a:xfrm>
          <a:prstGeom prst="ellipse">
            <a:avLst/>
          </a:prstGeom>
          <a:solidFill>
            <a:srgbClr val="E85D9C"/>
          </a:solidFill>
          <a:ln/>
        </p:spPr>
      </p:sp>
      <p:pic>
        <p:nvPicPr>
          <p:cNvPr id="28" name="Image 4" descr="icons_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96" y="4223796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53712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self-service app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53712" y="50840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view personalized recommendations and reserve resources directly.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101584" y="38679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32B63"/>
          </a:solidFill>
          <a:ln/>
        </p:spPr>
      </p:sp>
      <p:sp>
        <p:nvSpPr>
          <p:cNvPr id="32" name="Shape 25"/>
          <p:cNvSpPr/>
          <p:nvPr/>
        </p:nvSpPr>
        <p:spPr>
          <a:xfrm>
            <a:off x="8330184" y="4096512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3" name="Image 5" descr="icons_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468" y="4223796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30184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staffing alerts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30184" y="50840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seating/staff-allocation alerts automatically during predicted peak hours.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2026-08-15T18:23:54Z</dcterms:created>
  <dcterms:modified xsi:type="dcterms:W3CDTF">2026-08-15T18:23:54Z</dcterms:modified>
</cp:coreProperties>
</file>